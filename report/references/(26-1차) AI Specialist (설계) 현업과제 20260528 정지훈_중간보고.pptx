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257" r:id="rId5"/>
    <p:sldId id="295" r:id="rId6"/>
    <p:sldId id="259" r:id="rId7"/>
    <p:sldId id="260" r:id="rId8"/>
    <p:sldId id="261" r:id="rId9"/>
    <p:sldId id="262" r:id="rId10"/>
    <p:sldId id="265" r:id="rId11"/>
    <p:sldId id="266" r:id="rId12"/>
    <p:sldId id="297" r:id="rId13"/>
    <p:sldId id="300" r:id="rId14"/>
    <p:sldId id="290" r:id="rId15"/>
    <p:sldId id="299" r:id="rId16"/>
    <p:sldId id="288" r:id="rId17"/>
    <p:sldId id="292" r:id="rId18"/>
    <p:sldId id="268" r:id="rId19"/>
    <p:sldId id="269" r:id="rId20"/>
    <p:sldId id="296" r:id="rId21"/>
    <p:sldId id="271" r:id="rId22"/>
    <p:sldId id="272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과제계획서" id="{37F76FF6-4D84-4600-95AA-DDDC590B9DE5}">
          <p14:sldIdLst>
            <p14:sldId id="257"/>
            <p14:sldId id="295"/>
            <p14:sldId id="259"/>
            <p14:sldId id="260"/>
          </p14:sldIdLst>
        </p14:section>
        <p14:section name="2. 중간보고" id="{A601592A-F38A-4CD8-B977-3648669BA917}">
          <p14:sldIdLst>
            <p14:sldId id="261"/>
            <p14:sldId id="262"/>
          </p14:sldIdLst>
        </p14:section>
        <p14:section name="3. 최종보고" id="{01993820-4598-4128-A3D2-939FA032654F}">
          <p14:sldIdLst>
            <p14:sldId id="265"/>
            <p14:sldId id="266"/>
            <p14:sldId id="297"/>
            <p14:sldId id="300"/>
            <p14:sldId id="290"/>
            <p14:sldId id="299"/>
            <p14:sldId id="288"/>
            <p14:sldId id="292"/>
            <p14:sldId id="268"/>
            <p14:sldId id="269"/>
            <p14:sldId id="296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2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A61253-6CA1-40D7-9EA9-1F6EBC511C58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A8CA7B-468F-49DD-BEC4-E1CB5442C7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6194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50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0058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3707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9701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8741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63420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356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9864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92785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73648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84153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53197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3407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95984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5974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37164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4106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375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13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037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093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542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620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1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260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2956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48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351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94656-37DE-4017-8F2F-592F9AD33844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979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1D7A8F6-B678-4C3B-B207-3B00C868D3DA}"/>
              </a:ext>
            </a:extLst>
          </p:cNvPr>
          <p:cNvSpPr/>
          <p:nvPr/>
        </p:nvSpPr>
        <p:spPr>
          <a:xfrm>
            <a:off x="0" y="1464907"/>
            <a:ext cx="12192000" cy="235131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88258" y="1464907"/>
            <a:ext cx="11878235" cy="2351314"/>
          </a:xfrm>
        </p:spPr>
        <p:txBody>
          <a:bodyPr anchor="ctr">
            <a:normAutofit/>
          </a:bodyPr>
          <a:lstStyle/>
          <a:p>
            <a:pPr algn="ctr"/>
            <a:r>
              <a:rPr lang="en-US" altLang="ko-KR" sz="5400" b="1" dirty="0">
                <a:solidFill>
                  <a:srgbClr val="FFFFFF"/>
                </a:solidFill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AI </a:t>
            </a:r>
            <a:r>
              <a:rPr lang="ko-KR" altLang="en-US" sz="5400" b="1" dirty="0">
                <a:solidFill>
                  <a:srgbClr val="FFFFFF"/>
                </a:solidFill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기반 </a:t>
            </a:r>
            <a:r>
              <a:rPr lang="en-US" altLang="ko-KR" sz="5400" b="1" dirty="0">
                <a:solidFill>
                  <a:srgbClr val="FFFFFF"/>
                </a:solidFill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TV </a:t>
            </a:r>
            <a:r>
              <a:rPr lang="ko-KR" altLang="en-US" sz="5400" b="1" dirty="0">
                <a:solidFill>
                  <a:srgbClr val="FFFFFF"/>
                </a:solidFill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자동화 테스트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42849" y="5162295"/>
            <a:ext cx="40287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VD</a:t>
            </a:r>
            <a:r>
              <a:rPr lang="ko-KR" altLang="en-US" sz="20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 사업부 </a:t>
            </a:r>
            <a:r>
              <a:rPr lang="en-US" altLang="ko-KR" sz="20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/ Application S/W Lab.</a:t>
            </a:r>
          </a:p>
          <a:p>
            <a:pPr algn="r"/>
            <a:r>
              <a:rPr lang="ko-KR" altLang="en-US" sz="20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정지훈</a:t>
            </a:r>
          </a:p>
        </p:txBody>
      </p:sp>
    </p:spTree>
    <p:extLst>
      <p:ext uri="{BB962C8B-B14F-4D97-AF65-F5344CB8AC3E}">
        <p14:creationId xmlns:p14="http://schemas.microsoft.com/office/powerpoint/2010/main" val="3483270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8300" y="-1996"/>
            <a:ext cx="10209935" cy="522939"/>
          </a:xfrm>
        </p:spPr>
        <p:txBody>
          <a:bodyPr>
            <a:normAutofit/>
          </a:bodyPr>
          <a:lstStyle/>
          <a:p>
            <a:r>
              <a:rPr lang="ko-KR" altLang="en-US" sz="2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목차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0336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0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0</a:t>
            </a:r>
            <a:endParaRPr lang="ko-KR" altLang="en-US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7228" y="800905"/>
            <a:ext cx="2699640" cy="1245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1F497D"/>
                </a:solidFill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01</a:t>
            </a:r>
            <a:r>
              <a:rPr lang="en-US" altLang="ko-KR" sz="20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. </a:t>
            </a:r>
            <a:r>
              <a:rPr lang="ko-KR" altLang="en-US" sz="20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과제 계획</a:t>
            </a:r>
            <a:endParaRPr lang="en-US" altLang="ko-KR" sz="20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과제 배경 필요성</a:t>
            </a:r>
            <a:endParaRPr lang="en-US" altLang="ko-KR" sz="16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과제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228" y="2045926"/>
            <a:ext cx="4338921" cy="1245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1F497D"/>
                </a:solidFill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02</a:t>
            </a:r>
            <a:r>
              <a:rPr lang="en-US" altLang="ko-KR" sz="20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. </a:t>
            </a:r>
            <a:r>
              <a:rPr lang="ko-KR" altLang="en-US" sz="20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요구사항 분석</a:t>
            </a:r>
            <a:endParaRPr lang="en-US" altLang="ko-KR" sz="20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기능 요구사항 및 제약사항</a:t>
            </a:r>
            <a:endParaRPr lang="en-US" altLang="ko-KR" sz="16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품질 요구사항</a:t>
            </a:r>
            <a:endParaRPr lang="en-US" altLang="ko-KR" sz="16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7228" y="3290947"/>
            <a:ext cx="3271489" cy="1245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1F497D"/>
                </a:solidFill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03</a:t>
            </a:r>
            <a:r>
              <a:rPr lang="en-US" altLang="ko-KR" sz="20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. </a:t>
            </a:r>
            <a:r>
              <a:rPr lang="ko-KR" altLang="en-US" sz="20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설계</a:t>
            </a:r>
            <a:endParaRPr lang="en-US" altLang="ko-KR" sz="20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Architectural Decision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최종 </a:t>
            </a:r>
            <a:r>
              <a:rPr lang="en-US" altLang="ko-KR" sz="1600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Architecture</a:t>
            </a:r>
            <a:endParaRPr lang="ko-KR" altLang="en-US" sz="16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7228" y="4535968"/>
            <a:ext cx="2518665" cy="1245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1F497D"/>
                </a:solidFill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04</a:t>
            </a:r>
            <a:r>
              <a:rPr lang="en-US" altLang="ko-KR" sz="20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. </a:t>
            </a:r>
            <a:r>
              <a:rPr lang="ko-KR" altLang="en-US" sz="20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구현 및 검증</a:t>
            </a:r>
            <a:endParaRPr lang="en-US" altLang="ko-KR" sz="20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구현</a:t>
            </a:r>
            <a:endParaRPr lang="en-US" altLang="ko-KR" sz="16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품질속성 검증</a:t>
            </a:r>
            <a:endParaRPr lang="en-US" altLang="ko-KR" sz="16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4716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ko-KR" altLang="en-US" sz="2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과제 소개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1</a:t>
            </a:r>
            <a:endParaRPr lang="ko-KR" altLang="en-US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596154" y="770567"/>
            <a:ext cx="10422998" cy="3841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SamsungOneKorean 500C" panose="020B0606030303020204" pitchFamily="50" charset="-127"/>
              <a:buChar char="■"/>
            </a:pPr>
            <a:r>
              <a:rPr lang="ko-KR" altLang="en-US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과제 배경</a:t>
            </a:r>
            <a:endParaRPr lang="en-US" altLang="ko-KR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VD</a:t>
            </a:r>
            <a:r>
              <a:rPr lang="ko-KR" altLang="en-US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 사업부에서는 </a:t>
            </a:r>
            <a:r>
              <a:rPr lang="en-US" altLang="ko-KR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Tizen TV Platform</a:t>
            </a:r>
            <a:r>
              <a:rPr lang="ko-KR" altLang="en-US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에서 성능 중심 자동화 테스트는 확보되어 있음 </a:t>
            </a:r>
            <a:r>
              <a:rPr lang="en-US" altLang="ko-KR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( TPT – Tizen personal Perf Tool 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 </a:t>
            </a:r>
            <a:r>
              <a:rPr lang="ko-KR" altLang="en-US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기존 자동화 테스트는</a:t>
            </a:r>
            <a:r>
              <a:rPr lang="en-US" altLang="ko-KR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 </a:t>
            </a:r>
            <a:r>
              <a:rPr lang="ko-KR" altLang="en-US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동작 </a:t>
            </a:r>
            <a:r>
              <a:rPr lang="en-US" altLang="ko-KR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· </a:t>
            </a:r>
            <a:r>
              <a:rPr lang="ko-KR" altLang="en-US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예상 환경이 준비된 상태를 전제로 작성되며</a:t>
            </a:r>
            <a:r>
              <a:rPr lang="en-US" altLang="ko-KR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, TV </a:t>
            </a:r>
            <a:r>
              <a:rPr lang="ko-KR" altLang="en-US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앱 로그인 상태</a:t>
            </a:r>
            <a:r>
              <a:rPr lang="en-US" altLang="ko-KR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·UI </a:t>
            </a:r>
            <a:r>
              <a:rPr lang="ko-KR" altLang="en-US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변경 등 실 환경 변화에 대한 인지 및 대처가 제한적임</a:t>
            </a:r>
            <a:r>
              <a:rPr lang="en-US" altLang="ko-KR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.</a:t>
            </a:r>
          </a:p>
          <a:p>
            <a:pPr marL="1200150" lvl="2" indent="-285750">
              <a:lnSpc>
                <a:spcPct val="150000"/>
              </a:lnSpc>
              <a:buFont typeface="SamsungOneKorean 500C" panose="020B0606030303020204" pitchFamily="50" charset="-127"/>
              <a:buChar char="→"/>
            </a:pPr>
            <a:r>
              <a:rPr lang="ko-KR" altLang="en-US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해당 문제로 인해 개발 과정에서 </a:t>
            </a:r>
            <a:r>
              <a:rPr lang="en-US" altLang="ko-KR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UI</a:t>
            </a:r>
            <a:r>
              <a:rPr lang="ko-KR" altLang="en-US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가 변경되면 스크립트 수정 </a:t>
            </a:r>
            <a:r>
              <a:rPr lang="en-US" altLang="ko-KR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· </a:t>
            </a:r>
            <a:r>
              <a:rPr lang="ko-KR" altLang="en-US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재 작업 비용이 증가함</a:t>
            </a:r>
            <a:r>
              <a:rPr lang="en-US" altLang="ko-KR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.</a:t>
            </a:r>
          </a:p>
          <a:p>
            <a:pPr marL="1200150" lvl="2" indent="-285750">
              <a:lnSpc>
                <a:spcPct val="150000"/>
              </a:lnSpc>
              <a:buFont typeface="SamsungOneKorean 500C" panose="020B0606030303020204" pitchFamily="50" charset="-127"/>
              <a:buChar char="→"/>
            </a:pPr>
            <a:endParaRPr lang="en-US" altLang="ko-KR" sz="14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1200150" lvl="2" indent="-285750">
              <a:lnSpc>
                <a:spcPct val="150000"/>
              </a:lnSpc>
              <a:buFont typeface="SamsungOneKorean 500C" panose="020B0606030303020204" pitchFamily="50" charset="-127"/>
              <a:buChar char="→"/>
            </a:pPr>
            <a:endParaRPr lang="en-US" altLang="ko-KR" sz="14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285750" indent="-285750">
              <a:lnSpc>
                <a:spcPct val="150000"/>
              </a:lnSpc>
              <a:buFont typeface="SamsungOneKorean 500C" panose="020B0606030303020204" pitchFamily="50" charset="-127"/>
              <a:buChar char="■"/>
            </a:pPr>
            <a:r>
              <a:rPr lang="ko-KR" altLang="en-US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과제 필요성</a:t>
            </a:r>
            <a:endParaRPr lang="en-US" altLang="ko-KR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 </a:t>
            </a:r>
            <a:r>
              <a:rPr lang="en-US" altLang="ko-KR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TV </a:t>
            </a:r>
            <a:r>
              <a:rPr lang="ko-KR" altLang="en-US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화면</a:t>
            </a:r>
            <a:r>
              <a:rPr lang="en-US" altLang="ko-KR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(</a:t>
            </a:r>
            <a:r>
              <a:rPr lang="ko-KR" altLang="en-US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캡처</a:t>
            </a:r>
            <a:r>
              <a:rPr lang="en-US" altLang="ko-KR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) </a:t>
            </a:r>
            <a:r>
              <a:rPr lang="ko-KR" altLang="en-US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이미지를 학습 </a:t>
            </a:r>
            <a:r>
              <a:rPr lang="en-US" altLang="ko-KR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· </a:t>
            </a:r>
            <a:r>
              <a:rPr lang="ko-KR" altLang="en-US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판별하여 결과를 자동화 테스트에 반영하면 유지보수 비용을 효율화 할 수 있음</a:t>
            </a:r>
            <a:r>
              <a:rPr lang="en-US" altLang="ko-KR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.</a:t>
            </a:r>
          </a:p>
          <a:p>
            <a:pPr marL="1200150" lvl="2" indent="-285750">
              <a:lnSpc>
                <a:spcPct val="150000"/>
              </a:lnSpc>
              <a:buFont typeface="SamsungOneKorean 500C" panose="020B0606030303020204" pitchFamily="50" charset="-127"/>
              <a:buChar char="→"/>
            </a:pPr>
            <a:r>
              <a:rPr lang="ko-KR" altLang="en-US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장면</a:t>
            </a:r>
            <a:r>
              <a:rPr lang="en-US" altLang="ko-KR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(</a:t>
            </a:r>
            <a:r>
              <a:rPr lang="ko-KR" altLang="en-US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상태</a:t>
            </a:r>
            <a:r>
              <a:rPr lang="en-US" altLang="ko-KR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) </a:t>
            </a:r>
            <a:r>
              <a:rPr lang="ko-KR" altLang="en-US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인지 후 조건부 분기</a:t>
            </a:r>
            <a:r>
              <a:rPr lang="en-US" altLang="ko-KR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, </a:t>
            </a:r>
            <a:r>
              <a:rPr lang="ko-KR" altLang="en-US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선행 시나리오</a:t>
            </a:r>
            <a:r>
              <a:rPr lang="en-US" altLang="ko-KR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(</a:t>
            </a:r>
            <a:r>
              <a:rPr lang="ko-KR" altLang="en-US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로그인 등</a:t>
            </a:r>
            <a:r>
              <a:rPr lang="en-US" altLang="ko-KR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) </a:t>
            </a:r>
            <a:r>
              <a:rPr lang="ko-KR" altLang="en-US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호출이 가능해 무효 실패를 줄이고 성능 자동화와 연동할 수 있음</a:t>
            </a:r>
            <a:r>
              <a:rPr lang="en-US" altLang="ko-KR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테스트 가능한 커버리지를 확대하여 다양한 종류의 성능 테스트가 가능</a:t>
            </a:r>
            <a:endParaRPr lang="en-US" altLang="ko-KR" sz="16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  <p:grpSp>
        <p:nvGrpSpPr>
          <p:cNvPr id="62" name="그룹 61"/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64" name="오각형 33">
              <a:extLst>
                <a:ext uri="{FF2B5EF4-FFF2-40B4-BE49-F238E27FC236}">
                  <a16:creationId xmlns:a16="http://schemas.microsoft.com/office/drawing/2014/main" id="{A92FF41F-A983-40E8-82B4-348384978BCF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rgbClr val="3CAD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과제 소개</a:t>
              </a:r>
            </a:p>
          </p:txBody>
        </p:sp>
        <p:sp>
          <p:nvSpPr>
            <p:cNvPr id="65" name="갈매기형 수장 35">
              <a:extLst>
                <a:ext uri="{FF2B5EF4-FFF2-40B4-BE49-F238E27FC236}">
                  <a16:creationId xmlns:a16="http://schemas.microsoft.com/office/drawing/2014/main" id="{35649FE5-0EE5-4EB7-BF1E-C3CE0178468A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요구사항</a:t>
              </a:r>
            </a:p>
          </p:txBody>
        </p:sp>
        <p:sp>
          <p:nvSpPr>
            <p:cNvPr id="68" name="갈매기형 수장 36">
              <a:extLst>
                <a:ext uri="{FF2B5EF4-FFF2-40B4-BE49-F238E27FC236}">
                  <a16:creationId xmlns:a16="http://schemas.microsoft.com/office/drawing/2014/main" id="{609A7397-24BF-4223-850E-6EB288F45E65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설계</a:t>
              </a:r>
            </a:p>
          </p:txBody>
        </p:sp>
        <p:sp>
          <p:nvSpPr>
            <p:cNvPr id="69" name="갈매기형 수장 37">
              <a:extLst>
                <a:ext uri="{FF2B5EF4-FFF2-40B4-BE49-F238E27FC236}">
                  <a16:creationId xmlns:a16="http://schemas.microsoft.com/office/drawing/2014/main" id="{3599400D-4952-42AA-BC19-18FC421AFA34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구현</a:t>
              </a:r>
              <a:r>
                <a:rPr lang="en-US" altLang="ko-KR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/</a:t>
              </a:r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검증</a:t>
              </a:r>
            </a:p>
          </p:txBody>
        </p: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0CC6B17F-3EDA-4358-9C37-450D2F9694F3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72" name="갈매기형 수장 38">
                <a:extLst>
                  <a:ext uri="{FF2B5EF4-FFF2-40B4-BE49-F238E27FC236}">
                    <a16:creationId xmlns:a16="http://schemas.microsoft.com/office/drawing/2014/main" id="{AD8C0DD4-C00C-4A6D-B307-31E76B8C746D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 500C" panose="020B0606030303020204" pitchFamily="50" charset="-127"/>
                    <a:ea typeface="SamsungOneKorean 500C" panose="020B0606030303020204" pitchFamily="50" charset="-127"/>
                  </a:rPr>
                  <a:t>결론</a:t>
                </a:r>
              </a:p>
            </p:txBody>
          </p:sp>
          <p:sp>
            <p:nvSpPr>
              <p:cNvPr id="74" name="직사각형 73">
                <a:extLst>
                  <a:ext uri="{FF2B5EF4-FFF2-40B4-BE49-F238E27FC236}">
                    <a16:creationId xmlns:a16="http://schemas.microsoft.com/office/drawing/2014/main" id="{5E710D71-57AC-413E-A92B-57FDCEAEBD97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 500C" panose="020B0606030303020204" pitchFamily="50" charset="-127"/>
                  <a:ea typeface="SamsungOneKorean 500C" panose="020B0606030303020204" pitchFamily="50" charset="-127"/>
                </a:endParaRPr>
              </a:p>
            </p:txBody>
          </p:sp>
        </p:grpSp>
      </p:grpSp>
      <p:sp>
        <p:nvSpPr>
          <p:cNvPr id="14" name="제목 1">
            <a:extLst>
              <a:ext uri="{FF2B5EF4-FFF2-40B4-BE49-F238E27FC236}">
                <a16:creationId xmlns:a16="http://schemas.microsoft.com/office/drawing/2014/main" id="{5FCE58D9-282F-44F7-8FE8-F81D9D41505D}"/>
              </a:ext>
            </a:extLst>
          </p:cNvPr>
          <p:cNvSpPr txBox="1">
            <a:spLocks/>
          </p:cNvSpPr>
          <p:nvPr/>
        </p:nvSpPr>
        <p:spPr>
          <a:xfrm>
            <a:off x="-4482" y="5595128"/>
            <a:ext cx="12196482" cy="5229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400" b="1" dirty="0">
                <a:solidFill>
                  <a:schemeClr val="accent2">
                    <a:lumMod val="75000"/>
                  </a:schemeClr>
                </a:solidFill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AI </a:t>
            </a:r>
            <a:r>
              <a:rPr lang="ko-KR" altLang="en-US" sz="2400" b="1" dirty="0">
                <a:solidFill>
                  <a:schemeClr val="accent2">
                    <a:lumMod val="75000"/>
                  </a:schemeClr>
                </a:solidFill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비전 기반 장면 판별로 「상태 인지형」 자동화 테스트 구축하여 고도화된 테스트를 구현 </a:t>
            </a:r>
          </a:p>
        </p:txBody>
      </p:sp>
    </p:spTree>
    <p:extLst>
      <p:ext uri="{BB962C8B-B14F-4D97-AF65-F5344CB8AC3E}">
        <p14:creationId xmlns:p14="http://schemas.microsoft.com/office/powerpoint/2010/main" val="3453064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ko-KR" altLang="en-US" sz="2400" b="1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과제 개요</a:t>
            </a:r>
            <a:endParaRPr lang="ko-KR" altLang="en-US" sz="24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1</a:t>
            </a:r>
            <a:endParaRPr lang="ko-KR" altLang="en-US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308806"/>
              </p:ext>
            </p:extLst>
          </p:nvPr>
        </p:nvGraphicFramePr>
        <p:xfrm>
          <a:off x="596153" y="853574"/>
          <a:ext cx="11246540" cy="5803681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113253">
                  <a:extLst>
                    <a:ext uri="{9D8B030D-6E8A-4147-A177-3AD203B41FA5}">
                      <a16:colId xmlns:a16="http://schemas.microsoft.com/office/drawing/2014/main" val="1151322654"/>
                    </a:ext>
                  </a:extLst>
                </a:gridCol>
                <a:gridCol w="9133287">
                  <a:extLst>
                    <a:ext uri="{9D8B030D-6E8A-4147-A177-3AD203B41FA5}">
                      <a16:colId xmlns:a16="http://schemas.microsoft.com/office/drawing/2014/main" val="1443113069"/>
                    </a:ext>
                  </a:extLst>
                </a:gridCol>
              </a:tblGrid>
              <a:tr h="5708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과제명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AI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기반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TV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자동화 테스트 시스템</a:t>
                      </a:r>
                      <a:endParaRPr lang="ko-KR" altLang="en-US" sz="1200" b="1" u="sng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65133263"/>
                  </a:ext>
                </a:extLst>
              </a:tr>
              <a:tr h="16226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과제상세</a:t>
                      </a:r>
                      <a:endParaRPr lang="en-US" altLang="ko-KR" sz="12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(Work to do)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latinLnBrk="1">
                        <a:lnSpc>
                          <a:spcPct val="150000"/>
                        </a:lnSpc>
                        <a:buFontTx/>
                        <a:buChar char="■"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목표 수준</a:t>
                      </a:r>
                      <a:endParaRPr lang="en-US" altLang="ko-KR" sz="1400" b="1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marL="742950" lvl="1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TV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 장면 이미지를 학습 시킬 수 있는 도구 개발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marL="742950" lvl="1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TV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화면 장면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로그인 필요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완료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홈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오류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·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로딩 등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) AI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판별 정확도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marL="742950" lvl="1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판별 결과 기반 조건부 자동화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선행 로그인 → 성능 테스트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)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분기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·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가드 구현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marL="742950" lvl="1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TV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 장면 분석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Agent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 와 기존 자동화 도구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(TPT : Tizen personal Perf Tool)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와의 연동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marL="171450" lvl="0" indent="-171450" algn="l" latinLnBrk="1">
                        <a:lnSpc>
                          <a:spcPct val="150000"/>
                        </a:lnSpc>
                        <a:buFontTx/>
                        <a:buChar char="■"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 연구 방안</a:t>
                      </a:r>
                      <a:endParaRPr lang="en-US" altLang="ko-KR" sz="1400" b="1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marL="742950" lvl="1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장면 온톨로지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·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라벨링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 가이드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학습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·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평가 데이터 확보</a:t>
                      </a:r>
                    </a:p>
                    <a:p>
                      <a:pPr marL="742950" lvl="1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UI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캡처 →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전처리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 → 분류기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(ONNX/ML.NET)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파이프라인</a:t>
                      </a:r>
                    </a:p>
                    <a:p>
                      <a:pPr marL="742950" lvl="1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REST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검수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API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로 성능 자동화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 연동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27464"/>
                  </a:ext>
                </a:extLst>
              </a:tr>
              <a:tr h="14549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성과 및 기대효과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latinLnBrk="1">
                        <a:lnSpc>
                          <a:spcPct val="150000"/>
                        </a:lnSpc>
                        <a:buFontTx/>
                        <a:buChar char="■"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 기술 수준 향상</a:t>
                      </a:r>
                      <a:endParaRPr lang="en-US" altLang="ko-KR" sz="1400" b="1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marL="742950" lvl="1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상태 인지형 테스트 설계</a:t>
                      </a:r>
                    </a:p>
                    <a:p>
                      <a:pPr marL="1200150" lvl="2" indent="-285750">
                        <a:lnSpc>
                          <a:spcPct val="150000"/>
                        </a:lnSpc>
                        <a:buFontTx/>
                        <a:buChar char="→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단일 선형 스크립트가 아니라 장면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·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전이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·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가드를 갖는 자동화 구조에 대한 이해</a:t>
                      </a:r>
                    </a:p>
                    <a:p>
                      <a:pPr marL="742950" lvl="1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AI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적용의 현실적 운영</a:t>
                      </a:r>
                    </a:p>
                    <a:p>
                      <a:pPr marL="1200150" lvl="2" indent="-285750">
                        <a:lnSpc>
                          <a:spcPct val="150000"/>
                        </a:lnSpc>
                        <a:buFontTx/>
                        <a:buChar char="→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라벨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·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평가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·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오탐 대응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규칙과의 하이브리드 성능테스트 운영에 필요한 실행 파이프라인에서 구성 역량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marL="171450" lvl="0" indent="-171450" algn="l" latinLnBrk="1">
                        <a:lnSpc>
                          <a:spcPct val="150000"/>
                        </a:lnSpc>
                        <a:buFontTx/>
                        <a:buChar char="■"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 사업 성과 측면의 기대효과</a:t>
                      </a:r>
                      <a:endParaRPr lang="en-US" altLang="ko-KR" sz="1400" b="1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marL="742950" lvl="1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성능 자동화 동작의 성공률 상승으로 무효 실패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·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재작업이 줄어들어 개발 효율화를 달성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marL="742950" lvl="1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자동화 테스트 기능 고도화를 통한  테스트 커버리지가 확대 → 제품 품질을 향상</a:t>
                      </a:r>
                    </a:p>
                    <a:p>
                      <a:pPr marL="0" lv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091703"/>
                  </a:ext>
                </a:extLst>
              </a:tr>
            </a:tbl>
          </a:graphicData>
        </a:graphic>
      </p:graphicFrame>
      <p:grpSp>
        <p:nvGrpSpPr>
          <p:cNvPr id="33" name="그룹 32">
            <a:extLst>
              <a:ext uri="{FF2B5EF4-FFF2-40B4-BE49-F238E27FC236}">
                <a16:creationId xmlns:a16="http://schemas.microsoft.com/office/drawing/2014/main" id="{3680D883-E77A-4D75-A96B-2E7CE3B5CA32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34" name="오각형 33">
              <a:extLst>
                <a:ext uri="{FF2B5EF4-FFF2-40B4-BE49-F238E27FC236}">
                  <a16:creationId xmlns:a16="http://schemas.microsoft.com/office/drawing/2014/main" id="{34EB277E-ABDE-4C11-B9D5-2317C78DEAFD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rgbClr val="3CAD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과제 소개</a:t>
              </a:r>
            </a:p>
          </p:txBody>
        </p:sp>
        <p:sp>
          <p:nvSpPr>
            <p:cNvPr id="35" name="갈매기형 수장 35">
              <a:extLst>
                <a:ext uri="{FF2B5EF4-FFF2-40B4-BE49-F238E27FC236}">
                  <a16:creationId xmlns:a16="http://schemas.microsoft.com/office/drawing/2014/main" id="{AB7FB9F4-3859-4585-A612-3E70D948D6E3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요구사항</a:t>
              </a:r>
            </a:p>
          </p:txBody>
        </p:sp>
        <p:sp>
          <p:nvSpPr>
            <p:cNvPr id="36" name="갈매기형 수장 36">
              <a:extLst>
                <a:ext uri="{FF2B5EF4-FFF2-40B4-BE49-F238E27FC236}">
                  <a16:creationId xmlns:a16="http://schemas.microsoft.com/office/drawing/2014/main" id="{2761F454-9DAB-4B7A-AD34-2DDB048D1F7D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설계</a:t>
              </a:r>
            </a:p>
          </p:txBody>
        </p:sp>
        <p:sp>
          <p:nvSpPr>
            <p:cNvPr id="37" name="갈매기형 수장 37">
              <a:extLst>
                <a:ext uri="{FF2B5EF4-FFF2-40B4-BE49-F238E27FC236}">
                  <a16:creationId xmlns:a16="http://schemas.microsoft.com/office/drawing/2014/main" id="{3E91D828-EC90-49FA-8191-E0AA29CA04D1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구현</a:t>
              </a:r>
              <a:r>
                <a:rPr lang="en-US" altLang="ko-KR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/</a:t>
              </a:r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검증</a:t>
              </a: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9923D846-23F1-493F-877C-0FD25383A867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39" name="갈매기형 수장 38">
                <a:extLst>
                  <a:ext uri="{FF2B5EF4-FFF2-40B4-BE49-F238E27FC236}">
                    <a16:creationId xmlns:a16="http://schemas.microsoft.com/office/drawing/2014/main" id="{35FD2ABC-420F-4D54-95AA-F79E7BE50573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 500C" panose="020B0606030303020204" pitchFamily="50" charset="-127"/>
                    <a:ea typeface="SamsungOneKorean 500C" panose="020B0606030303020204" pitchFamily="50" charset="-127"/>
                  </a:rPr>
                  <a:t>결론</a:t>
                </a:r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A366E2AA-90B1-490E-85AB-9745A9C75724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 500C" panose="020B0606030303020204" pitchFamily="50" charset="-127"/>
                  <a:ea typeface="SamsungOneKorean 500C" panose="020B0606030303020204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851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ko-KR" altLang="en-US" sz="2400" b="1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기능 요구사항 및 제약사항</a:t>
            </a:r>
            <a:endParaRPr lang="ko-KR" altLang="en-US" sz="2400" b="1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2</a:t>
            </a:r>
            <a:endParaRPr lang="ko-KR" altLang="en-US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95530" y="651046"/>
            <a:ext cx="7302550" cy="466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기능 요구사항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714853"/>
              </p:ext>
            </p:extLst>
          </p:nvPr>
        </p:nvGraphicFramePr>
        <p:xfrm>
          <a:off x="420016" y="1182858"/>
          <a:ext cx="11297502" cy="2666106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125980">
                  <a:extLst>
                    <a:ext uri="{9D8B030D-6E8A-4147-A177-3AD203B41FA5}">
                      <a16:colId xmlns:a16="http://schemas.microsoft.com/office/drawing/2014/main" val="1151322654"/>
                    </a:ext>
                  </a:extLst>
                </a:gridCol>
                <a:gridCol w="2703619">
                  <a:extLst>
                    <a:ext uri="{9D8B030D-6E8A-4147-A177-3AD203B41FA5}">
                      <a16:colId xmlns:a16="http://schemas.microsoft.com/office/drawing/2014/main" val="1374002975"/>
                    </a:ext>
                  </a:extLst>
                </a:gridCol>
                <a:gridCol w="7467903">
                  <a:extLst>
                    <a:ext uri="{9D8B030D-6E8A-4147-A177-3AD203B41FA5}">
                      <a16:colId xmlns:a16="http://schemas.microsoft.com/office/drawing/2014/main" val="1810519564"/>
                    </a:ext>
                  </a:extLst>
                </a:gridCol>
              </a:tblGrid>
              <a:tr h="4443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ID</a:t>
                      </a:r>
                      <a:endParaRPr lang="ko-KR" altLang="en-US" sz="90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TITLE</a:t>
                      </a:r>
                      <a:endParaRPr lang="ko-KR" altLang="en-US" sz="90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Description</a:t>
                      </a:r>
                      <a:endParaRPr lang="ko-KR" altLang="en-US" sz="90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607065"/>
                  </a:ext>
                </a:extLst>
              </a:tr>
              <a:tr h="44435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FR-01</a:t>
                      </a:r>
                    </a:p>
                  </a:txBody>
                  <a:tcPr marL="123825" marR="123825" marT="57150" marB="57150" anchor="ctr"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dirty="0">
                          <a:effectLst/>
                        </a:rPr>
                        <a:t>TV </a:t>
                      </a:r>
                      <a:r>
                        <a:rPr lang="ko-KR" altLang="en-US" sz="1200" dirty="0">
                          <a:effectLst/>
                        </a:rPr>
                        <a:t>이미지 장면 판단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dirty="0">
                          <a:effectLst/>
                        </a:rPr>
                        <a:t>TV </a:t>
                      </a:r>
                      <a:r>
                        <a:rPr lang="ko-KR" altLang="en-US" sz="1200" dirty="0">
                          <a:effectLst/>
                        </a:rPr>
                        <a:t>로 부터 캡쳐 된 장면 이미지를 판단하는 기능을 제공한다</a:t>
                      </a:r>
                      <a:r>
                        <a:rPr lang="en-US" altLang="ko-KR" sz="1200" dirty="0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5133263"/>
                  </a:ext>
                </a:extLst>
              </a:tr>
              <a:tr h="44435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FR-02</a:t>
                      </a:r>
                    </a:p>
                  </a:txBody>
                  <a:tcPr marL="123825" marR="123825" marT="57150" marB="57150" anchor="ctr"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dirty="0">
                          <a:effectLst/>
                        </a:rPr>
                        <a:t>TV </a:t>
                      </a:r>
                      <a:r>
                        <a:rPr lang="ko-KR" altLang="en-US" sz="1200" dirty="0">
                          <a:effectLst/>
                        </a:rPr>
                        <a:t>이미지 장면 학습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dirty="0">
                          <a:effectLst/>
                        </a:rPr>
                        <a:t>TV </a:t>
                      </a:r>
                      <a:r>
                        <a:rPr lang="ko-KR" altLang="en-US" sz="1200" dirty="0">
                          <a:effectLst/>
                        </a:rPr>
                        <a:t>이미지를 라벨링하고 학습하는 기능을 제공한다</a:t>
                      </a:r>
                      <a:r>
                        <a:rPr lang="en-US" altLang="ko-KR" sz="1200" dirty="0">
                          <a:effectLst/>
                        </a:rPr>
                        <a:t>. 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4146188"/>
                  </a:ext>
                </a:extLst>
              </a:tr>
              <a:tr h="44435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FR-03</a:t>
                      </a:r>
                    </a:p>
                  </a:txBody>
                  <a:tcPr marL="123825" marR="123825" marT="57150" marB="57150" anchor="ctr"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이미지 판단 요청 </a:t>
                      </a:r>
                      <a:r>
                        <a:rPr lang="en-US" altLang="ko-KR" sz="1200" dirty="0">
                          <a:effectLst/>
                        </a:rPr>
                        <a:t>API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dirty="0">
                          <a:effectLst/>
                        </a:rPr>
                        <a:t>TV </a:t>
                      </a:r>
                      <a:r>
                        <a:rPr lang="ko-KR" altLang="en-US" sz="1200" dirty="0">
                          <a:effectLst/>
                        </a:rPr>
                        <a:t>이미지를 데이터로 하여 판단 요청을 하는 기능을 </a:t>
                      </a:r>
                      <a:r>
                        <a:rPr lang="en-US" altLang="ko-KR" sz="1200" dirty="0">
                          <a:effectLst/>
                        </a:rPr>
                        <a:t>API </a:t>
                      </a:r>
                      <a:r>
                        <a:rPr lang="ko-KR" altLang="en-US" sz="1200" dirty="0">
                          <a:effectLst/>
                        </a:rPr>
                        <a:t>형태로 제공한다</a:t>
                      </a:r>
                      <a:r>
                        <a:rPr lang="en-US" altLang="ko-KR" sz="1200" dirty="0">
                          <a:effectLst/>
                        </a:rPr>
                        <a:t>. 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8986240"/>
                  </a:ext>
                </a:extLst>
              </a:tr>
              <a:tr h="44435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FR-04</a:t>
                      </a:r>
                    </a:p>
                  </a:txBody>
                  <a:tcPr marL="123825" marR="123825" marT="57150" marB="57150" anchor="ctr"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이미지 판단 데이터 수집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dirty="0">
                          <a:effectLst/>
                        </a:rPr>
                        <a:t>TV </a:t>
                      </a:r>
                      <a:r>
                        <a:rPr lang="ko-KR" altLang="en-US" sz="1200" dirty="0">
                          <a:effectLst/>
                        </a:rPr>
                        <a:t>이미지 판단하는 과정에서 산출된 결과에 대한 데이터를 확보는 기능을 제공한다</a:t>
                      </a:r>
                      <a:r>
                        <a:rPr lang="en-US" altLang="ko-KR" sz="1200" dirty="0">
                          <a:effectLst/>
                        </a:rPr>
                        <a:t>. 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4881057"/>
                  </a:ext>
                </a:extLst>
              </a:tr>
              <a:tr h="44435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FR-05</a:t>
                      </a:r>
                    </a:p>
                  </a:txBody>
                  <a:tcPr marL="123825" marR="123825" marT="57150" marB="57150" anchor="ctr"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자동화 테스트 연동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dirty="0">
                          <a:effectLst/>
                        </a:rPr>
                        <a:t>TV</a:t>
                      </a:r>
                      <a:r>
                        <a:rPr lang="ko-KR" altLang="en-US" sz="1200" dirty="0">
                          <a:effectLst/>
                        </a:rPr>
                        <a:t> 이미지 판단 데이터 기준으로 자동화 테스트에 반영 되는 기능을 제공한다</a:t>
                      </a:r>
                      <a:r>
                        <a:rPr lang="en-US" altLang="ko-KR" sz="1200" dirty="0">
                          <a:effectLst/>
                        </a:rPr>
                        <a:t>. 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494202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95530" y="4466770"/>
            <a:ext cx="1229824" cy="466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제약사항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410767"/>
              </p:ext>
            </p:extLst>
          </p:nvPr>
        </p:nvGraphicFramePr>
        <p:xfrm>
          <a:off x="420016" y="5037498"/>
          <a:ext cx="11297502" cy="1265346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125980">
                  <a:extLst>
                    <a:ext uri="{9D8B030D-6E8A-4147-A177-3AD203B41FA5}">
                      <a16:colId xmlns:a16="http://schemas.microsoft.com/office/drawing/2014/main" val="1151322654"/>
                    </a:ext>
                  </a:extLst>
                </a:gridCol>
                <a:gridCol w="2703976">
                  <a:extLst>
                    <a:ext uri="{9D8B030D-6E8A-4147-A177-3AD203B41FA5}">
                      <a16:colId xmlns:a16="http://schemas.microsoft.com/office/drawing/2014/main" val="1374002975"/>
                    </a:ext>
                  </a:extLst>
                </a:gridCol>
                <a:gridCol w="7467546">
                  <a:extLst>
                    <a:ext uri="{9D8B030D-6E8A-4147-A177-3AD203B41FA5}">
                      <a16:colId xmlns:a16="http://schemas.microsoft.com/office/drawing/2014/main" val="1810519564"/>
                    </a:ext>
                  </a:extLst>
                </a:gridCol>
              </a:tblGrid>
              <a:tr h="4217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ID</a:t>
                      </a:r>
                      <a:endParaRPr lang="ko-KR" altLang="en-US" sz="120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TITLE</a:t>
                      </a:r>
                      <a:endParaRPr lang="ko-KR" altLang="en-US" sz="120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Description</a:t>
                      </a:r>
                      <a:endParaRPr lang="ko-KR" altLang="en-US" sz="120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66607065"/>
                  </a:ext>
                </a:extLst>
              </a:tr>
              <a:tr h="421782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C01</a:t>
                      </a:r>
                    </a:p>
                  </a:txBody>
                  <a:tcPr marL="123825" marR="123825" marT="57150" marB="57150" anchor="ctr"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</a:rPr>
                        <a:t>Local PC </a:t>
                      </a:r>
                      <a:r>
                        <a:rPr lang="ko-KR" altLang="en-US" sz="1100" dirty="0">
                          <a:effectLst/>
                        </a:rPr>
                        <a:t>자원 제약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effectLst/>
                        </a:rPr>
                        <a:t>개인 </a:t>
                      </a:r>
                      <a:r>
                        <a:rPr lang="en-US" altLang="ko-KR" sz="1100" dirty="0">
                          <a:effectLst/>
                        </a:rPr>
                        <a:t>PC </a:t>
                      </a:r>
                      <a:r>
                        <a:rPr lang="ko-KR" altLang="en-US" sz="1100" dirty="0">
                          <a:effectLst/>
                        </a:rPr>
                        <a:t>환경</a:t>
                      </a:r>
                      <a:r>
                        <a:rPr lang="en-US" altLang="ko-KR" sz="1100" dirty="0">
                          <a:effectLst/>
                        </a:rPr>
                        <a:t>(CPU/GPU/Memory)</a:t>
                      </a:r>
                      <a:r>
                        <a:rPr lang="ko-KR" altLang="en-US" sz="1100" dirty="0">
                          <a:effectLst/>
                        </a:rPr>
                        <a:t>에서 개인이 사용가능한 환경이여야 한다</a:t>
                      </a:r>
                      <a:r>
                        <a:rPr lang="en-US" altLang="ko-KR" sz="1100" dirty="0">
                          <a:effectLst/>
                        </a:rPr>
                        <a:t>. 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65133263"/>
                  </a:ext>
                </a:extLst>
              </a:tr>
              <a:tr h="421782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C02</a:t>
                      </a:r>
                    </a:p>
                  </a:txBody>
                  <a:tcPr marL="123825" marR="123825" marT="57150" marB="57150" anchor="ctr"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dirty="0">
                          <a:effectLst/>
                        </a:rPr>
                        <a:t>TV </a:t>
                      </a:r>
                      <a:r>
                        <a:rPr lang="ko-KR" altLang="en-US" sz="1100" dirty="0">
                          <a:effectLst/>
                        </a:rPr>
                        <a:t>환경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dirty="0">
                          <a:effectLst/>
                        </a:rPr>
                        <a:t>Tizen TV Platform </a:t>
                      </a:r>
                      <a:r>
                        <a:rPr lang="ko-KR" altLang="en-US" sz="1100" dirty="0">
                          <a:effectLst/>
                        </a:rPr>
                        <a:t>기반에서 동작하는 </a:t>
                      </a:r>
                      <a:r>
                        <a:rPr lang="en-US" altLang="ko-KR" sz="1100" dirty="0">
                          <a:effectLst/>
                        </a:rPr>
                        <a:t>TV </a:t>
                      </a:r>
                      <a:r>
                        <a:rPr lang="ko-KR" altLang="en-US" sz="1100" dirty="0">
                          <a:effectLst/>
                        </a:rPr>
                        <a:t>가 대상이어야 한다</a:t>
                      </a:r>
                      <a:r>
                        <a:rPr lang="en-US" altLang="ko-KR" sz="1100">
                          <a:effectLst/>
                        </a:rPr>
                        <a:t>. </a:t>
                      </a:r>
                      <a:endParaRPr lang="en-US" altLang="ko-KR" sz="110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58986240"/>
                  </a:ext>
                </a:extLst>
              </a:tr>
            </a:tbl>
          </a:graphicData>
        </a:graphic>
      </p:graphicFrame>
      <p:grpSp>
        <p:nvGrpSpPr>
          <p:cNvPr id="33" name="그룹 32">
            <a:extLst>
              <a:ext uri="{FF2B5EF4-FFF2-40B4-BE49-F238E27FC236}">
                <a16:creationId xmlns:a16="http://schemas.microsoft.com/office/drawing/2014/main" id="{2B1DE469-99F2-4A69-9F39-936BEA540FDD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34" name="오각형 33">
              <a:extLst>
                <a:ext uri="{FF2B5EF4-FFF2-40B4-BE49-F238E27FC236}">
                  <a16:creationId xmlns:a16="http://schemas.microsoft.com/office/drawing/2014/main" id="{E7575604-67D9-42B6-BB77-F115D8A276B0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35" name="갈매기형 수장 35">
              <a:extLst>
                <a:ext uri="{FF2B5EF4-FFF2-40B4-BE49-F238E27FC236}">
                  <a16:creationId xmlns:a16="http://schemas.microsoft.com/office/drawing/2014/main" id="{97C02E5D-9785-4EDB-91E8-A6AAAAFA6242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36" name="갈매기형 수장 36">
              <a:extLst>
                <a:ext uri="{FF2B5EF4-FFF2-40B4-BE49-F238E27FC236}">
                  <a16:creationId xmlns:a16="http://schemas.microsoft.com/office/drawing/2014/main" id="{30512639-19D9-4026-AF79-352914F07D49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37" name="갈매기형 수장 37">
              <a:extLst>
                <a:ext uri="{FF2B5EF4-FFF2-40B4-BE49-F238E27FC236}">
                  <a16:creationId xmlns:a16="http://schemas.microsoft.com/office/drawing/2014/main" id="{08512BE3-25B2-4C56-AB50-8C7F6C3693ED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682E44F0-5E30-4D11-AE5A-762E3C8F683C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39" name="갈매기형 수장 38">
                <a:extLst>
                  <a:ext uri="{FF2B5EF4-FFF2-40B4-BE49-F238E27FC236}">
                    <a16:creationId xmlns:a16="http://schemas.microsoft.com/office/drawing/2014/main" id="{ED5897E3-96B9-4596-931D-C9DFCA7CFD9F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5F79C36C-B19B-45BD-A7E3-2BE1FE49363A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71694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ko-KR" altLang="en-US" sz="2400" b="1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품질 속성</a:t>
            </a:r>
            <a:endParaRPr lang="ko-KR" altLang="en-US" sz="24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2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0390" y="528918"/>
            <a:ext cx="8684115" cy="466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QAW </a:t>
            </a:r>
            <a:r>
              <a:rPr lang="ko-KR" altLang="en-US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및 </a:t>
            </a:r>
            <a:r>
              <a:rPr lang="en-US" altLang="ko-KR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Utility Tree</a:t>
            </a:r>
            <a:r>
              <a:rPr lang="ko-KR" altLang="en-US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를 통한 </a:t>
            </a:r>
            <a:r>
              <a:rPr lang="en-US" altLang="ko-KR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ASR </a:t>
            </a:r>
            <a:r>
              <a:rPr lang="ko-KR" altLang="en-US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선정 </a:t>
            </a:r>
            <a:r>
              <a:rPr lang="en-US" altLang="ko-KR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(AI </a:t>
            </a:r>
            <a:r>
              <a:rPr lang="ko-KR" altLang="en-US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관련 </a:t>
            </a:r>
            <a:r>
              <a:rPr lang="en-US" altLang="ko-KR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QA </a:t>
            </a:r>
            <a:r>
              <a:rPr lang="ko-KR" altLang="en-US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반드시 포함</a:t>
            </a:r>
            <a:r>
              <a:rPr lang="en-US" altLang="ko-KR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)</a:t>
            </a:r>
            <a:endParaRPr lang="ko-KR" altLang="en-US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620000"/>
              </p:ext>
            </p:extLst>
          </p:nvPr>
        </p:nvGraphicFramePr>
        <p:xfrm>
          <a:off x="568918" y="1269571"/>
          <a:ext cx="11152779" cy="38284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4751">
                  <a:extLst>
                    <a:ext uri="{9D8B030D-6E8A-4147-A177-3AD203B41FA5}">
                      <a16:colId xmlns:a16="http://schemas.microsoft.com/office/drawing/2014/main" val="1151322654"/>
                    </a:ext>
                  </a:extLst>
                </a:gridCol>
                <a:gridCol w="1448145">
                  <a:extLst>
                    <a:ext uri="{9D8B030D-6E8A-4147-A177-3AD203B41FA5}">
                      <a16:colId xmlns:a16="http://schemas.microsoft.com/office/drawing/2014/main" val="1443113069"/>
                    </a:ext>
                  </a:extLst>
                </a:gridCol>
                <a:gridCol w="6444831">
                  <a:extLst>
                    <a:ext uri="{9D8B030D-6E8A-4147-A177-3AD203B41FA5}">
                      <a16:colId xmlns:a16="http://schemas.microsoft.com/office/drawing/2014/main" val="1374002975"/>
                    </a:ext>
                  </a:extLst>
                </a:gridCol>
                <a:gridCol w="1227526">
                  <a:extLst>
                    <a:ext uri="{9D8B030D-6E8A-4147-A177-3AD203B41FA5}">
                      <a16:colId xmlns:a16="http://schemas.microsoft.com/office/drawing/2014/main" val="2774603272"/>
                    </a:ext>
                  </a:extLst>
                </a:gridCol>
                <a:gridCol w="1227526">
                  <a:extLst>
                    <a:ext uri="{9D8B030D-6E8A-4147-A177-3AD203B41FA5}">
                      <a16:colId xmlns:a16="http://schemas.microsoft.com/office/drawing/2014/main" val="532618218"/>
                    </a:ext>
                  </a:extLst>
                </a:gridCol>
              </a:tblGrid>
              <a:tr h="2099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ID</a:t>
                      </a:r>
                      <a:endParaRPr lang="ko-KR" altLang="en-US" sz="11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QA</a:t>
                      </a:r>
                      <a:endParaRPr lang="ko-KR" altLang="en-US" sz="11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중요도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난이도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607065"/>
                  </a:ext>
                </a:extLst>
              </a:tr>
              <a:tr h="785843"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</a:rPr>
                        <a:t>QA-01</a:t>
                      </a:r>
                    </a:p>
                  </a:txBody>
                  <a:tcPr marL="123825" marR="123825" marT="57150" marB="5715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effectLst/>
                        </a:rPr>
                        <a:t>기능 정확성 </a:t>
                      </a:r>
                      <a:r>
                        <a:rPr lang="en-US" altLang="ko-KR" sz="1100" dirty="0">
                          <a:effectLst/>
                        </a:rPr>
                        <a:t>(</a:t>
                      </a:r>
                      <a:r>
                        <a:rPr lang="en-US" sz="1100" dirty="0">
                          <a:effectLst/>
                        </a:rPr>
                        <a:t>AI)</a:t>
                      </a:r>
                    </a:p>
                  </a:txBody>
                  <a:tcPr marL="123825" marR="123825" marT="57150" marB="571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effectLst/>
                        </a:rPr>
                        <a:t>정의된 장면에 대해 분류 품질을 유지</a:t>
                      </a:r>
                      <a:r>
                        <a:rPr lang="en-US" altLang="ko-KR" sz="1100" dirty="0">
                          <a:effectLst/>
                        </a:rPr>
                        <a:t>·</a:t>
                      </a:r>
                      <a:r>
                        <a:rPr lang="ko-KR" altLang="en-US" sz="1100" dirty="0">
                          <a:effectLst/>
                        </a:rPr>
                        <a:t>개선하고</a:t>
                      </a:r>
                      <a:r>
                        <a:rPr lang="en-US" altLang="ko-KR" sz="1100" dirty="0">
                          <a:effectLst/>
                        </a:rPr>
                        <a:t> TV</a:t>
                      </a:r>
                      <a:r>
                        <a:rPr lang="ko-KR" altLang="en-US" sz="1100" dirty="0">
                          <a:effectLst/>
                        </a:rPr>
                        <a:t> 장면에</a:t>
                      </a:r>
                      <a:r>
                        <a:rPr lang="en-US" altLang="ko-KR" sz="1100" dirty="0">
                          <a:effectLst/>
                        </a:rPr>
                        <a:t> </a:t>
                      </a:r>
                      <a:r>
                        <a:rPr lang="ko-KR" altLang="en-US" sz="1100" dirty="0">
                          <a:effectLst/>
                        </a:rPr>
                        <a:t>대한 판단이 정확해야 한다</a:t>
                      </a:r>
                      <a:r>
                        <a:rPr lang="en-US" altLang="ko-KR" sz="1100" dirty="0">
                          <a:effectLst/>
                        </a:rPr>
                        <a:t>. </a:t>
                      </a:r>
                    </a:p>
                    <a:p>
                      <a:endParaRPr lang="en-US" altLang="ko-KR" sz="800" dirty="0">
                        <a:effectLst/>
                      </a:endParaRPr>
                    </a:p>
                    <a:p>
                      <a:r>
                        <a:rPr lang="en-US" altLang="ko-KR" sz="800" dirty="0">
                          <a:effectLst/>
                        </a:rPr>
                        <a:t>[ Tear 01 </a:t>
                      </a:r>
                      <a:r>
                        <a:rPr lang="ko-KR" altLang="en-US" sz="800" dirty="0">
                          <a:effectLst/>
                        </a:rPr>
                        <a:t>장면 판단</a:t>
                      </a:r>
                      <a:r>
                        <a:rPr lang="en-US" altLang="ko-KR" sz="800" dirty="0">
                          <a:effectLst/>
                        </a:rPr>
                        <a:t> </a:t>
                      </a:r>
                      <a:r>
                        <a:rPr lang="ko-KR" altLang="en-US" sz="800" dirty="0">
                          <a:effectLst/>
                        </a:rPr>
                        <a:t>정확도 </a:t>
                      </a:r>
                      <a:r>
                        <a:rPr lang="en-US" altLang="ko-KR" sz="800" dirty="0">
                          <a:effectLst/>
                        </a:rPr>
                        <a:t>] &gt; 90 %</a:t>
                      </a:r>
                      <a:r>
                        <a:rPr lang="ko-KR" altLang="en-US" sz="800" dirty="0">
                          <a:effectLst/>
                        </a:rPr>
                        <a:t> </a:t>
                      </a:r>
                      <a:r>
                        <a:rPr lang="en-US" altLang="ko-KR" sz="800" dirty="0">
                          <a:effectLst/>
                        </a:rPr>
                        <a:t>(</a:t>
                      </a:r>
                      <a:r>
                        <a:rPr lang="ko-KR" altLang="en-US" sz="800" dirty="0">
                          <a:effectLst/>
                        </a:rPr>
                        <a:t> </a:t>
                      </a:r>
                      <a:r>
                        <a:rPr lang="en-US" altLang="ko-KR" sz="800" dirty="0">
                          <a:effectLst/>
                        </a:rPr>
                        <a:t>10</a:t>
                      </a:r>
                      <a:r>
                        <a:rPr lang="ko-KR" altLang="en-US" sz="800" dirty="0">
                          <a:effectLst/>
                        </a:rPr>
                        <a:t>개의 장면 중 </a:t>
                      </a:r>
                      <a:r>
                        <a:rPr lang="en-US" altLang="ko-KR" sz="800" dirty="0">
                          <a:effectLst/>
                        </a:rPr>
                        <a:t>9</a:t>
                      </a:r>
                      <a:r>
                        <a:rPr lang="ko-KR" altLang="en-US" sz="800" dirty="0">
                          <a:effectLst/>
                        </a:rPr>
                        <a:t>개의 장면을 정확하게 판단해야 한다 </a:t>
                      </a:r>
                      <a:r>
                        <a:rPr lang="en-US" altLang="ko-KR" sz="800" dirty="0">
                          <a:effectLst/>
                        </a:rPr>
                        <a:t>)</a:t>
                      </a:r>
                    </a:p>
                    <a:p>
                      <a:endParaRPr lang="en-US" altLang="ko-KR" sz="800" dirty="0">
                        <a:effectLst/>
                      </a:endParaRPr>
                    </a:p>
                    <a:p>
                      <a:r>
                        <a:rPr lang="en-US" altLang="ko-KR" sz="800" dirty="0">
                          <a:effectLst/>
                        </a:rPr>
                        <a:t>※ Tear 01 </a:t>
                      </a:r>
                      <a:r>
                        <a:rPr lang="ko-KR" altLang="en-US" sz="800" dirty="0">
                          <a:effectLst/>
                        </a:rPr>
                        <a:t>장면 </a:t>
                      </a:r>
                      <a:r>
                        <a:rPr lang="en-US" altLang="ko-KR" sz="800" dirty="0">
                          <a:effectLst/>
                        </a:rPr>
                        <a:t>: </a:t>
                      </a:r>
                      <a:r>
                        <a:rPr lang="ko-KR" altLang="en-US" sz="800" dirty="0">
                          <a:effectLst/>
                        </a:rPr>
                        <a:t>테스트의 화면 판단이 필요하는 주요 </a:t>
                      </a:r>
                      <a:r>
                        <a:rPr lang="en-US" altLang="ko-KR" sz="800" dirty="0">
                          <a:effectLst/>
                        </a:rPr>
                        <a:t>App (TV Home, Menu, Netflix, Youtube </a:t>
                      </a:r>
                      <a:r>
                        <a:rPr lang="ko-KR" altLang="en-US" sz="800" dirty="0">
                          <a:effectLst/>
                        </a:rPr>
                        <a:t>등</a:t>
                      </a:r>
                      <a:r>
                        <a:rPr lang="en-US" altLang="ko-KR" sz="800" dirty="0">
                          <a:effectLst/>
                        </a:rPr>
                        <a:t>) </a:t>
                      </a:r>
                      <a:r>
                        <a:rPr lang="ko-KR" altLang="en-US" sz="800" dirty="0">
                          <a:effectLst/>
                        </a:rPr>
                        <a:t>에 대한 장면 판단 </a:t>
                      </a:r>
                      <a:r>
                        <a:rPr lang="en-US" altLang="ko-KR" sz="800" dirty="0">
                          <a:effectLst/>
                        </a:rPr>
                        <a:t> </a:t>
                      </a:r>
                      <a:r>
                        <a:rPr lang="ko-KR" altLang="en-US" sz="800" dirty="0">
                          <a:effectLst/>
                        </a:rPr>
                        <a:t> </a:t>
                      </a:r>
                    </a:p>
                  </a:txBody>
                  <a:tcPr marL="123825" marR="123825" marT="57150" marB="571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H</a:t>
                      </a:r>
                    </a:p>
                  </a:txBody>
                  <a:tcPr marL="123825" marR="123825" marT="57150" marB="571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H</a:t>
                      </a:r>
                    </a:p>
                  </a:txBody>
                  <a:tcPr marL="123825" marR="123825" marT="57150" marB="571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133263"/>
                  </a:ext>
                </a:extLst>
              </a:tr>
              <a:tr h="876683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QA-02</a:t>
                      </a:r>
                    </a:p>
                  </a:txBody>
                  <a:tcPr marL="123825" marR="123825" marT="57150" marB="5715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effectLst/>
                        </a:rPr>
                        <a:t>신뢰성</a:t>
                      </a:r>
                      <a:endParaRPr lang="en-US" sz="1100" dirty="0">
                        <a:effectLst/>
                      </a:endParaRPr>
                    </a:p>
                  </a:txBody>
                  <a:tcPr marL="123825" marR="123825" marT="57150" marB="571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effectLst/>
                        </a:rPr>
                        <a:t>테스트의 준비 환경이 만족 되지 않는 상황에서도 테스트 실패율을 줄이고 유지한다</a:t>
                      </a:r>
                      <a:r>
                        <a:rPr lang="en-US" altLang="ko-KR" sz="1100" dirty="0">
                          <a:effectLst/>
                        </a:rPr>
                        <a:t>.</a:t>
                      </a:r>
                    </a:p>
                    <a:p>
                      <a:endParaRPr lang="en-US" altLang="ko-KR" sz="1100" dirty="0">
                        <a:effectLst/>
                      </a:endParaRPr>
                    </a:p>
                    <a:p>
                      <a:r>
                        <a:rPr lang="en-US" altLang="ko-KR" sz="800" dirty="0">
                          <a:effectLst/>
                        </a:rPr>
                        <a:t>[ Tier 01 </a:t>
                      </a:r>
                      <a:r>
                        <a:rPr lang="ko-KR" altLang="en-US" sz="800" dirty="0">
                          <a:effectLst/>
                        </a:rPr>
                        <a:t>무효 실패율 </a:t>
                      </a:r>
                      <a:r>
                        <a:rPr lang="en-US" altLang="ko-KR" sz="800" dirty="0">
                          <a:effectLst/>
                        </a:rPr>
                        <a:t>] &lt; 5%</a:t>
                      </a:r>
                    </a:p>
                    <a:p>
                      <a:endParaRPr lang="en-US" altLang="ko-KR" sz="800" dirty="0">
                        <a:effectLst/>
                      </a:endParaRPr>
                    </a:p>
                    <a:p>
                      <a:r>
                        <a:rPr lang="en-US" altLang="ko-KR" sz="800" dirty="0">
                          <a:effectLst/>
                        </a:rPr>
                        <a:t>※ Tear 01 </a:t>
                      </a:r>
                      <a:r>
                        <a:rPr lang="ko-KR" altLang="en-US" sz="800" dirty="0">
                          <a:effectLst/>
                        </a:rPr>
                        <a:t>장면 </a:t>
                      </a:r>
                      <a:r>
                        <a:rPr lang="en-US" altLang="ko-KR" sz="800" dirty="0">
                          <a:effectLst/>
                        </a:rPr>
                        <a:t>: </a:t>
                      </a:r>
                      <a:r>
                        <a:rPr lang="ko-KR" altLang="en-US" sz="800" dirty="0">
                          <a:effectLst/>
                        </a:rPr>
                        <a:t>테스트의 화면 판단이 필요하는 주요 </a:t>
                      </a:r>
                      <a:r>
                        <a:rPr lang="en-US" altLang="ko-KR" sz="800" dirty="0">
                          <a:effectLst/>
                        </a:rPr>
                        <a:t>App (TV Home, Menu, Netflix, Youtube </a:t>
                      </a:r>
                      <a:r>
                        <a:rPr lang="ko-KR" altLang="en-US" sz="800" dirty="0">
                          <a:effectLst/>
                        </a:rPr>
                        <a:t>등</a:t>
                      </a:r>
                      <a:r>
                        <a:rPr lang="en-US" altLang="ko-KR" sz="800" dirty="0">
                          <a:effectLst/>
                        </a:rPr>
                        <a:t>) </a:t>
                      </a:r>
                      <a:r>
                        <a:rPr lang="ko-KR" altLang="en-US" sz="800" dirty="0">
                          <a:effectLst/>
                        </a:rPr>
                        <a:t>에 대한 장면 판단 </a:t>
                      </a:r>
                      <a:r>
                        <a:rPr lang="en-US" altLang="ko-KR" sz="800" dirty="0">
                          <a:effectLst/>
                        </a:rPr>
                        <a:t> </a:t>
                      </a:r>
                      <a:r>
                        <a:rPr lang="ko-KR" altLang="en-US" sz="800" dirty="0">
                          <a:effectLst/>
                        </a:rPr>
                        <a:t> </a:t>
                      </a:r>
                    </a:p>
                  </a:txBody>
                  <a:tcPr marL="123825" marR="123825" marT="57150" marB="571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H</a:t>
                      </a:r>
                    </a:p>
                  </a:txBody>
                  <a:tcPr marL="123825" marR="123825" marT="57150" marB="571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M</a:t>
                      </a:r>
                    </a:p>
                  </a:txBody>
                  <a:tcPr marL="123825" marR="123825" marT="57150" marB="571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62560"/>
                  </a:ext>
                </a:extLst>
              </a:tr>
              <a:tr h="907060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QA-03</a:t>
                      </a:r>
                    </a:p>
                  </a:txBody>
                  <a:tcPr marL="123825" marR="123825" marT="57150" marB="5715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effectLst/>
                        </a:rPr>
                        <a:t>설명 용이성 </a:t>
                      </a:r>
                      <a:r>
                        <a:rPr lang="en-US" altLang="ko-KR" sz="1100" dirty="0">
                          <a:effectLst/>
                        </a:rPr>
                        <a:t>(</a:t>
                      </a:r>
                      <a:r>
                        <a:rPr lang="en-US" sz="1100" dirty="0">
                          <a:effectLst/>
                        </a:rPr>
                        <a:t>AI)</a:t>
                      </a:r>
                    </a:p>
                  </a:txBody>
                  <a:tcPr marL="123825" marR="123825" marT="57150" marB="571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dirty="0">
                          <a:effectLst/>
                        </a:rPr>
                        <a:t>AI</a:t>
                      </a:r>
                      <a:r>
                        <a:rPr lang="ko-KR" altLang="en-US" sz="1100" dirty="0">
                          <a:effectLst/>
                        </a:rPr>
                        <a:t>가 내린 </a:t>
                      </a:r>
                      <a:r>
                        <a:rPr lang="en-US" altLang="ko-KR" sz="1100" dirty="0">
                          <a:effectLst/>
                        </a:rPr>
                        <a:t>TV </a:t>
                      </a:r>
                      <a:r>
                        <a:rPr lang="ko-KR" altLang="en-US" sz="1100" dirty="0">
                          <a:effectLst/>
                        </a:rPr>
                        <a:t>장면 판별 결과에 대해</a:t>
                      </a:r>
                      <a:r>
                        <a:rPr lang="en-US" altLang="ko-KR" sz="1100" dirty="0">
                          <a:effectLst/>
                        </a:rPr>
                        <a:t>, </a:t>
                      </a:r>
                      <a:r>
                        <a:rPr lang="ko-KR" altLang="en-US" sz="1100" dirty="0">
                          <a:effectLst/>
                        </a:rPr>
                        <a:t>왜 그렇게 판단했는지 캡처</a:t>
                      </a:r>
                      <a:r>
                        <a:rPr lang="en-US" altLang="ko-KR" sz="1100" dirty="0">
                          <a:effectLst/>
                        </a:rPr>
                        <a:t>, </a:t>
                      </a:r>
                      <a:r>
                        <a:rPr lang="ko-KR" altLang="en-US" sz="1100" dirty="0">
                          <a:effectLst/>
                        </a:rPr>
                        <a:t>로그</a:t>
                      </a:r>
                      <a:r>
                        <a:rPr lang="en-US" altLang="ko-KR" sz="1100" dirty="0">
                          <a:effectLst/>
                        </a:rPr>
                        <a:t>, </a:t>
                      </a:r>
                      <a:r>
                        <a:rPr lang="ko-KR" altLang="en-US" sz="1100" dirty="0">
                          <a:effectLst/>
                        </a:rPr>
                        <a:t>규칙</a:t>
                      </a:r>
                      <a:r>
                        <a:rPr lang="en-US" altLang="ko-KR" sz="1100" dirty="0">
                          <a:effectLst/>
                        </a:rPr>
                        <a:t>, ML </a:t>
                      </a:r>
                      <a:r>
                        <a:rPr lang="ko-KR" altLang="en-US" sz="1100" dirty="0">
                          <a:effectLst/>
                        </a:rPr>
                        <a:t>기여도로 설명</a:t>
                      </a:r>
                      <a:r>
                        <a:rPr lang="en-US" altLang="ko-KR" sz="1100" dirty="0">
                          <a:effectLst/>
                        </a:rPr>
                        <a:t> </a:t>
                      </a:r>
                      <a:r>
                        <a:rPr lang="ko-KR" altLang="en-US" sz="1100" dirty="0">
                          <a:effectLst/>
                        </a:rPr>
                        <a:t>재현할 수 있어야 한다</a:t>
                      </a:r>
                      <a:r>
                        <a:rPr lang="en-US" altLang="ko-KR" sz="1100" dirty="0">
                          <a:effectLst/>
                        </a:rPr>
                        <a:t>.</a:t>
                      </a:r>
                    </a:p>
                    <a:p>
                      <a:endParaRPr lang="en-US" altLang="ko-KR" sz="900" dirty="0">
                        <a:effectLst/>
                      </a:endParaRPr>
                    </a:p>
                    <a:p>
                      <a:r>
                        <a:rPr lang="en-US" altLang="ko-KR" sz="900" dirty="0">
                          <a:effectLst/>
                        </a:rPr>
                        <a:t>[ Tier 01 </a:t>
                      </a:r>
                      <a:r>
                        <a:rPr lang="ko-KR" altLang="en-US" sz="900" dirty="0">
                          <a:effectLst/>
                        </a:rPr>
                        <a:t>재현 율 </a:t>
                      </a:r>
                      <a:r>
                        <a:rPr lang="en-US" altLang="ko-KR" sz="900" dirty="0">
                          <a:effectLst/>
                        </a:rPr>
                        <a:t>] &gt; 95%</a:t>
                      </a:r>
                    </a:p>
                    <a:p>
                      <a:endParaRPr lang="en-US" altLang="ko-KR" sz="900" dirty="0">
                        <a:effectLst/>
                      </a:endParaRPr>
                    </a:p>
                    <a:p>
                      <a:r>
                        <a:rPr lang="en-US" altLang="ko-KR" sz="900" dirty="0">
                          <a:effectLst/>
                        </a:rPr>
                        <a:t>※ Tear 01 </a:t>
                      </a:r>
                      <a:r>
                        <a:rPr lang="ko-KR" altLang="en-US" sz="900" dirty="0">
                          <a:effectLst/>
                        </a:rPr>
                        <a:t>장면 </a:t>
                      </a:r>
                      <a:r>
                        <a:rPr lang="en-US" altLang="ko-KR" sz="900" dirty="0">
                          <a:effectLst/>
                        </a:rPr>
                        <a:t>: </a:t>
                      </a:r>
                      <a:r>
                        <a:rPr lang="ko-KR" altLang="en-US" sz="900" dirty="0">
                          <a:effectLst/>
                        </a:rPr>
                        <a:t>테스트의 화면 판단이 필요하는 주요 </a:t>
                      </a:r>
                      <a:r>
                        <a:rPr lang="en-US" altLang="ko-KR" sz="900" dirty="0">
                          <a:effectLst/>
                        </a:rPr>
                        <a:t>App (TV Home, Menu, Netflix, Youtube </a:t>
                      </a:r>
                      <a:r>
                        <a:rPr lang="ko-KR" altLang="en-US" sz="900" dirty="0">
                          <a:effectLst/>
                        </a:rPr>
                        <a:t>등</a:t>
                      </a:r>
                      <a:r>
                        <a:rPr lang="en-US" altLang="ko-KR" sz="900" dirty="0">
                          <a:effectLst/>
                        </a:rPr>
                        <a:t>) </a:t>
                      </a:r>
                      <a:r>
                        <a:rPr lang="ko-KR" altLang="en-US" sz="900" dirty="0">
                          <a:effectLst/>
                        </a:rPr>
                        <a:t>에 대한 장면 판단 </a:t>
                      </a:r>
                      <a:r>
                        <a:rPr lang="en-US" altLang="ko-KR" sz="900" dirty="0">
                          <a:effectLst/>
                        </a:rPr>
                        <a:t> </a:t>
                      </a:r>
                      <a:r>
                        <a:rPr lang="ko-KR" altLang="en-US" sz="900" dirty="0">
                          <a:effectLst/>
                        </a:rPr>
                        <a:t> </a:t>
                      </a:r>
                    </a:p>
                  </a:txBody>
                  <a:tcPr marL="123825" marR="123825" marT="57150" marB="571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H</a:t>
                      </a:r>
                    </a:p>
                  </a:txBody>
                  <a:tcPr marL="123825" marR="123825" marT="57150" marB="571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L</a:t>
                      </a:r>
                    </a:p>
                  </a:txBody>
                  <a:tcPr marL="123825" marR="123825" marT="57150" marB="571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986240"/>
                  </a:ext>
                </a:extLst>
              </a:tr>
              <a:tr h="908662"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</a:rPr>
                        <a:t>QA-04</a:t>
                      </a:r>
                    </a:p>
                  </a:txBody>
                  <a:tcPr marL="123825" marR="123825" marT="57150" marB="5715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effectLst/>
                        </a:rPr>
                        <a:t>성능</a:t>
                      </a:r>
                      <a:endParaRPr lang="en-US" sz="1100" dirty="0">
                        <a:effectLst/>
                      </a:endParaRPr>
                    </a:p>
                  </a:txBody>
                  <a:tcPr marL="123825" marR="123825" marT="57150" marB="571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effectLst/>
                        </a:rPr>
                        <a:t>자동화 테스트 과정에서 </a:t>
                      </a:r>
                      <a:r>
                        <a:rPr lang="en-US" altLang="ko-KR" sz="1100" dirty="0">
                          <a:effectLst/>
                        </a:rPr>
                        <a:t>AI </a:t>
                      </a:r>
                      <a:r>
                        <a:rPr lang="ko-KR" altLang="en-US" sz="1100" dirty="0">
                          <a:effectLst/>
                        </a:rPr>
                        <a:t>장면 판단에 발생되는 대기 시간</a:t>
                      </a:r>
                      <a:endParaRPr lang="en-US" altLang="ko-KR" sz="1100" dirty="0">
                        <a:effectLst/>
                      </a:endParaRPr>
                    </a:p>
                    <a:p>
                      <a:endParaRPr lang="en-US" altLang="ko-KR" sz="1100" dirty="0">
                        <a:effectLst/>
                      </a:endParaRPr>
                    </a:p>
                    <a:p>
                      <a:r>
                        <a:rPr lang="en-US" altLang="ko-KR" sz="900" dirty="0">
                          <a:effectLst/>
                        </a:rPr>
                        <a:t>[ Tier 01 </a:t>
                      </a:r>
                      <a:r>
                        <a:rPr lang="ko-KR" altLang="en-US" sz="900" dirty="0">
                          <a:effectLst/>
                        </a:rPr>
                        <a:t>장면 판단 대기 시간 </a:t>
                      </a:r>
                      <a:r>
                        <a:rPr lang="en-US" altLang="ko-KR" sz="900" dirty="0">
                          <a:effectLst/>
                        </a:rPr>
                        <a:t>] &gt; 2 </a:t>
                      </a:r>
                      <a:r>
                        <a:rPr lang="ko-KR" altLang="en-US" sz="900" dirty="0">
                          <a:effectLst/>
                        </a:rPr>
                        <a:t>초</a:t>
                      </a:r>
                      <a:endParaRPr lang="en-US" altLang="ko-KR" sz="900" dirty="0">
                        <a:effectLst/>
                      </a:endParaRPr>
                    </a:p>
                    <a:p>
                      <a:endParaRPr lang="en-US" altLang="ko-KR" sz="900" dirty="0">
                        <a:effectLst/>
                      </a:endParaRPr>
                    </a:p>
                    <a:p>
                      <a:r>
                        <a:rPr lang="en-US" altLang="ko-KR" sz="900" dirty="0">
                          <a:effectLst/>
                        </a:rPr>
                        <a:t>※ Tear 01 </a:t>
                      </a:r>
                      <a:r>
                        <a:rPr lang="ko-KR" altLang="en-US" sz="900" dirty="0">
                          <a:effectLst/>
                        </a:rPr>
                        <a:t>장면 </a:t>
                      </a:r>
                      <a:r>
                        <a:rPr lang="en-US" altLang="ko-KR" sz="900" dirty="0">
                          <a:effectLst/>
                        </a:rPr>
                        <a:t>: </a:t>
                      </a:r>
                      <a:r>
                        <a:rPr lang="ko-KR" altLang="en-US" sz="900" dirty="0">
                          <a:effectLst/>
                        </a:rPr>
                        <a:t>테스트의 화면 판단이 필요하는 주요 </a:t>
                      </a:r>
                      <a:r>
                        <a:rPr lang="en-US" altLang="ko-KR" sz="900" dirty="0">
                          <a:effectLst/>
                        </a:rPr>
                        <a:t>App (TV Home, Menu, Netflix, Youtube </a:t>
                      </a:r>
                      <a:r>
                        <a:rPr lang="ko-KR" altLang="en-US" sz="900" dirty="0">
                          <a:effectLst/>
                        </a:rPr>
                        <a:t>등</a:t>
                      </a:r>
                      <a:r>
                        <a:rPr lang="en-US" altLang="ko-KR" sz="900" dirty="0">
                          <a:effectLst/>
                        </a:rPr>
                        <a:t>) </a:t>
                      </a:r>
                      <a:r>
                        <a:rPr lang="ko-KR" altLang="en-US" sz="900" dirty="0">
                          <a:effectLst/>
                        </a:rPr>
                        <a:t>에 대한 장면 판단 </a:t>
                      </a:r>
                      <a:r>
                        <a:rPr lang="en-US" altLang="ko-KR" sz="900" dirty="0">
                          <a:effectLst/>
                        </a:rPr>
                        <a:t> </a:t>
                      </a:r>
                      <a:r>
                        <a:rPr lang="ko-KR" altLang="en-US" sz="900" dirty="0">
                          <a:effectLst/>
                        </a:rPr>
                        <a:t> </a:t>
                      </a:r>
                    </a:p>
                  </a:txBody>
                  <a:tcPr marL="123825" marR="123825" marT="57150" marB="571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M</a:t>
                      </a:r>
                    </a:p>
                  </a:txBody>
                  <a:tcPr marL="123825" marR="123825" marT="57150" marB="571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M</a:t>
                      </a:r>
                    </a:p>
                  </a:txBody>
                  <a:tcPr marL="123825" marR="123825" marT="57150" marB="571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27464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55CA5531-B40E-486D-846F-5695C7F42688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7" name="오각형 33">
              <a:extLst>
                <a:ext uri="{FF2B5EF4-FFF2-40B4-BE49-F238E27FC236}">
                  <a16:creationId xmlns:a16="http://schemas.microsoft.com/office/drawing/2014/main" id="{0D018DC1-F28B-496E-9865-2468793BBE4A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과제 소개</a:t>
              </a:r>
            </a:p>
          </p:txBody>
        </p:sp>
        <p:sp>
          <p:nvSpPr>
            <p:cNvPr id="18" name="갈매기형 수장 35">
              <a:extLst>
                <a:ext uri="{FF2B5EF4-FFF2-40B4-BE49-F238E27FC236}">
                  <a16:creationId xmlns:a16="http://schemas.microsoft.com/office/drawing/2014/main" id="{914959C8-18EC-46AC-A3A9-B0532E088283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요구사항</a:t>
              </a:r>
            </a:p>
          </p:txBody>
        </p:sp>
        <p:sp>
          <p:nvSpPr>
            <p:cNvPr id="19" name="갈매기형 수장 36">
              <a:extLst>
                <a:ext uri="{FF2B5EF4-FFF2-40B4-BE49-F238E27FC236}">
                  <a16:creationId xmlns:a16="http://schemas.microsoft.com/office/drawing/2014/main" id="{E595E885-0E7D-4C8B-B057-F41963D25406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설계</a:t>
              </a:r>
            </a:p>
          </p:txBody>
        </p:sp>
        <p:sp>
          <p:nvSpPr>
            <p:cNvPr id="20" name="갈매기형 수장 37">
              <a:extLst>
                <a:ext uri="{FF2B5EF4-FFF2-40B4-BE49-F238E27FC236}">
                  <a16:creationId xmlns:a16="http://schemas.microsoft.com/office/drawing/2014/main" id="{EB9F7889-5C33-4829-A578-3EC6B1E22A9B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구현</a:t>
              </a:r>
              <a:r>
                <a:rPr lang="en-US" altLang="ko-KR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/</a:t>
              </a:r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검증</a:t>
              </a: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F26B7B0D-00B2-43D4-8716-52D6909FC7E7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2" name="갈매기형 수장 38">
                <a:extLst>
                  <a:ext uri="{FF2B5EF4-FFF2-40B4-BE49-F238E27FC236}">
                    <a16:creationId xmlns:a16="http://schemas.microsoft.com/office/drawing/2014/main" id="{A819D0D3-6757-4B42-B2F1-5C4E7DE2C725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 500C" panose="020B0606030303020204" pitchFamily="50" charset="-127"/>
                    <a:ea typeface="SamsungOneKorean 500C" panose="020B0606030303020204" pitchFamily="50" charset="-127"/>
                  </a:rPr>
                  <a:t>결론</a:t>
                </a:r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2C781014-2D0A-40DA-8F30-BFA61390BE5B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 500C" panose="020B0606030303020204" pitchFamily="50" charset="-127"/>
                  <a:ea typeface="SamsungOneKorean 500C" panose="020B0606030303020204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10064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DP1. </a:t>
            </a:r>
            <a:r>
              <a:rPr lang="ko-KR" altLang="en-US" sz="2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설계 문제 정의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3</a:t>
            </a:r>
            <a:endParaRPr lang="ko-KR" altLang="en-US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FB697D-C102-4939-856E-DA48FBA1F838}"/>
              </a:ext>
            </a:extLst>
          </p:cNvPr>
          <p:cNvSpPr txBox="1"/>
          <p:nvPr/>
        </p:nvSpPr>
        <p:spPr>
          <a:xfrm>
            <a:off x="596153" y="853424"/>
            <a:ext cx="10985646" cy="4825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1. </a:t>
            </a:r>
            <a:r>
              <a:rPr lang="ko-KR" altLang="en-US" sz="16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배경</a:t>
            </a:r>
            <a:endParaRPr lang="en-US" altLang="ko-KR" sz="16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1400" b="1" dirty="0" err="1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ㅇㅇㅇㅇ</a:t>
            </a:r>
            <a:endParaRPr lang="en-US" altLang="ko-KR" sz="14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ko-KR" altLang="en-US" sz="1400" dirty="0" err="1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ㅇㅇㅇㅇ</a:t>
            </a:r>
            <a:endParaRPr lang="en-US" altLang="ko-KR" sz="14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1400" b="1" dirty="0" err="1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ㅇㅇㅇㅇ</a:t>
            </a:r>
            <a:endParaRPr lang="en-US" altLang="ko-KR" sz="14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ko-KR" altLang="en-US" sz="1400" dirty="0" err="1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ㅇㅇㅇㅇ</a:t>
            </a:r>
            <a:endParaRPr lang="en-US" altLang="ko-KR" sz="14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285750" indent="-285750">
              <a:lnSpc>
                <a:spcPct val="200000"/>
              </a:lnSpc>
              <a:buFontTx/>
              <a:buChar char="-"/>
            </a:pPr>
            <a:endParaRPr lang="ko-KR" altLang="en-US" sz="12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6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2. </a:t>
            </a:r>
            <a:r>
              <a:rPr lang="ko-KR" altLang="en-US" sz="16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문제점</a:t>
            </a:r>
            <a:endParaRPr lang="en-US" altLang="ko-KR" sz="16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1400" b="1" dirty="0" err="1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ㅇㅇㅇㅇ</a:t>
            </a:r>
            <a:endParaRPr lang="en-US" altLang="ko-KR" sz="14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ko-KR" altLang="en-US" sz="1400" dirty="0" err="1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ㅇㅇㅇㅇ</a:t>
            </a:r>
            <a:endParaRPr lang="en-US" altLang="ko-KR" sz="14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1400" b="1" dirty="0" err="1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ㅇㅇㅇㅇ</a:t>
            </a:r>
            <a:endParaRPr lang="en-US" altLang="ko-KR" sz="14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ko-KR" altLang="en-US" sz="1400" dirty="0" err="1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ㅇㅇㅇㅇ</a:t>
            </a:r>
            <a:endParaRPr lang="en-US" altLang="ko-KR" sz="14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ED95BDB-D048-490D-8A33-487DC6BC925B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5" name="오각형 33">
              <a:extLst>
                <a:ext uri="{FF2B5EF4-FFF2-40B4-BE49-F238E27FC236}">
                  <a16:creationId xmlns:a16="http://schemas.microsoft.com/office/drawing/2014/main" id="{C2C3F738-21AE-4CA6-ABD3-E89A4014745F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과제 소개</a:t>
              </a:r>
            </a:p>
          </p:txBody>
        </p:sp>
        <p:sp>
          <p:nvSpPr>
            <p:cNvPr id="16" name="갈매기형 수장 35">
              <a:extLst>
                <a:ext uri="{FF2B5EF4-FFF2-40B4-BE49-F238E27FC236}">
                  <a16:creationId xmlns:a16="http://schemas.microsoft.com/office/drawing/2014/main" id="{E8710B0C-4B56-4828-A445-7EFAD02EE562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요구사항</a:t>
              </a:r>
            </a:p>
          </p:txBody>
        </p:sp>
        <p:sp>
          <p:nvSpPr>
            <p:cNvPr id="17" name="갈매기형 수장 36">
              <a:extLst>
                <a:ext uri="{FF2B5EF4-FFF2-40B4-BE49-F238E27FC236}">
                  <a16:creationId xmlns:a16="http://schemas.microsoft.com/office/drawing/2014/main" id="{651FB14D-88D0-4E20-8AF6-919D1E63BE12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설계</a:t>
              </a:r>
            </a:p>
          </p:txBody>
        </p:sp>
        <p:sp>
          <p:nvSpPr>
            <p:cNvPr id="18" name="갈매기형 수장 37">
              <a:extLst>
                <a:ext uri="{FF2B5EF4-FFF2-40B4-BE49-F238E27FC236}">
                  <a16:creationId xmlns:a16="http://schemas.microsoft.com/office/drawing/2014/main" id="{13F8088E-93ED-4B72-9015-C46467BA503F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구현</a:t>
              </a:r>
              <a:r>
                <a:rPr lang="en-US" altLang="ko-KR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/</a:t>
              </a:r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검증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BEB1EBAE-8844-48D9-A501-002F76DE8AE1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0" name="갈매기형 수장 38">
                <a:extLst>
                  <a:ext uri="{FF2B5EF4-FFF2-40B4-BE49-F238E27FC236}">
                    <a16:creationId xmlns:a16="http://schemas.microsoft.com/office/drawing/2014/main" id="{C7C3FE47-9CF4-4377-B86A-B09DEC7F4760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 500C" panose="020B0606030303020204" pitchFamily="50" charset="-127"/>
                    <a:ea typeface="SamsungOneKorean 500C" panose="020B0606030303020204" pitchFamily="50" charset="-127"/>
                  </a:rPr>
                  <a:t>결론</a:t>
                </a: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187D2794-B483-4893-9B78-42B199A7DE0D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 500C" panose="020B0606030303020204" pitchFamily="50" charset="-127"/>
                  <a:ea typeface="SamsungOneKorean 500C" panose="020B0606030303020204" pitchFamily="50" charset="-127"/>
                </a:endParaRPr>
              </a:p>
            </p:txBody>
          </p:sp>
        </p:grp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27924E8-DCED-4E83-BE91-B43625B3E579}"/>
              </a:ext>
            </a:extLst>
          </p:cNvPr>
          <p:cNvSpPr/>
          <p:nvPr/>
        </p:nvSpPr>
        <p:spPr>
          <a:xfrm rot="20977912">
            <a:off x="3471148" y="2048350"/>
            <a:ext cx="5383676" cy="26685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accent5">
                    <a:lumMod val="75000"/>
                  </a:schemeClr>
                </a:solidFill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DP 2</a:t>
            </a: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개 이상 작성</a:t>
            </a:r>
            <a:endParaRPr lang="en-US" altLang="ko-KR" dirty="0">
              <a:solidFill>
                <a:schemeClr val="accent5">
                  <a:lumMod val="75000"/>
                </a:schemeClr>
              </a:solidFill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도출된 품질속성 중 </a:t>
            </a:r>
            <a:r>
              <a:rPr lang="en-US" altLang="ko-KR" dirty="0">
                <a:solidFill>
                  <a:schemeClr val="accent5">
                    <a:lumMod val="75000"/>
                  </a:schemeClr>
                </a:solidFill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1</a:t>
            </a: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건 이상 비교 필수</a:t>
            </a:r>
            <a:endParaRPr lang="en-US" altLang="ko-KR" dirty="0">
              <a:solidFill>
                <a:schemeClr val="accent5">
                  <a:lumMod val="75000"/>
                </a:schemeClr>
              </a:solidFill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3661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191731"/>
              </p:ext>
            </p:extLst>
          </p:nvPr>
        </p:nvGraphicFramePr>
        <p:xfrm>
          <a:off x="748397" y="847255"/>
          <a:ext cx="10963777" cy="56462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6393">
                  <a:extLst>
                    <a:ext uri="{9D8B030D-6E8A-4147-A177-3AD203B41FA5}">
                      <a16:colId xmlns:a16="http://schemas.microsoft.com/office/drawing/2014/main" val="1860507414"/>
                    </a:ext>
                  </a:extLst>
                </a:gridCol>
                <a:gridCol w="5128692">
                  <a:extLst>
                    <a:ext uri="{9D8B030D-6E8A-4147-A177-3AD203B41FA5}">
                      <a16:colId xmlns:a16="http://schemas.microsoft.com/office/drawing/2014/main" val="1112934244"/>
                    </a:ext>
                  </a:extLst>
                </a:gridCol>
                <a:gridCol w="5128692">
                  <a:extLst>
                    <a:ext uri="{9D8B030D-6E8A-4147-A177-3AD203B41FA5}">
                      <a16:colId xmlns:a16="http://schemas.microsoft.com/office/drawing/2014/main" val="2709743984"/>
                    </a:ext>
                  </a:extLst>
                </a:gridCol>
              </a:tblGrid>
              <a:tr h="27631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(1</a:t>
                      </a:r>
                      <a:r>
                        <a:rPr lang="ko-KR" altLang="en-US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안</a:t>
                      </a:r>
                      <a:r>
                        <a:rPr lang="en-US" altLang="ko-KR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)</a:t>
                      </a:r>
                      <a:r>
                        <a:rPr lang="ko-KR" altLang="en-US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 </a:t>
                      </a:r>
                      <a:r>
                        <a:rPr lang="ko-KR" altLang="en-US" sz="1100" b="1" dirty="0" err="1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ㅇㅇㅇㅇㅇ</a:t>
                      </a:r>
                      <a:endParaRPr lang="ko-KR" altLang="en-US" sz="1100" b="1" dirty="0">
                        <a:solidFill>
                          <a:srgbClr val="C0000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(2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안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) 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ㅇㅇㅇㅇㅇ</a:t>
                      </a:r>
                      <a:endParaRPr lang="ko-KR" altLang="en-US" sz="1100" b="1" dirty="0">
                        <a:solidFill>
                          <a:srgbClr val="C0000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597432"/>
                  </a:ext>
                </a:extLst>
              </a:tr>
              <a:tr h="36283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구조</a:t>
                      </a:r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ko-KR" altLang="en-US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555606"/>
                  </a:ext>
                </a:extLst>
              </a:tr>
              <a:tr h="5193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장점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9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9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507908"/>
                  </a:ext>
                </a:extLst>
              </a:tr>
              <a:tr h="4880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단점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703641"/>
                  </a:ext>
                </a:extLst>
              </a:tr>
              <a:tr h="7342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Trade</a:t>
                      </a:r>
                    </a:p>
                    <a:p>
                      <a:pPr algn="ctr" latinLnBrk="1"/>
                      <a:r>
                        <a:rPr lang="en-US" altLang="ko-KR" sz="1000" b="1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Off</a:t>
                      </a:r>
                    </a:p>
                    <a:p>
                      <a:pPr algn="ctr" latinLnBrk="1"/>
                      <a:endParaRPr lang="en-US" altLang="ko-KR" sz="1000" b="1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900" b="0" i="0" u="none" strike="noStrike" kern="1200" baseline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900" b="0" i="0" u="none" strike="noStrike" kern="1200" baseline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082475"/>
                  </a:ext>
                </a:extLst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DP1. </a:t>
            </a:r>
            <a:r>
              <a:rPr lang="ko-KR" altLang="en-US" sz="2400" b="1" dirty="0" err="1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설계안</a:t>
            </a:r>
            <a:r>
              <a:rPr lang="ko-KR" altLang="en-US" sz="2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 결정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3</a:t>
            </a:r>
            <a:endParaRPr lang="ko-KR" altLang="en-US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F5A31D4-A3B3-45FD-8705-E993532CAC87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8" name="오각형 33">
              <a:extLst>
                <a:ext uri="{FF2B5EF4-FFF2-40B4-BE49-F238E27FC236}">
                  <a16:creationId xmlns:a16="http://schemas.microsoft.com/office/drawing/2014/main" id="{405A9B6F-AAC0-42B7-B434-43ACC0F7F494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과제 소개</a:t>
              </a:r>
            </a:p>
          </p:txBody>
        </p:sp>
        <p:sp>
          <p:nvSpPr>
            <p:cNvPr id="19" name="갈매기형 수장 35">
              <a:extLst>
                <a:ext uri="{FF2B5EF4-FFF2-40B4-BE49-F238E27FC236}">
                  <a16:creationId xmlns:a16="http://schemas.microsoft.com/office/drawing/2014/main" id="{618A5C00-0CBD-4C00-BC6D-587EB816A244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요구사항</a:t>
              </a:r>
            </a:p>
          </p:txBody>
        </p:sp>
        <p:sp>
          <p:nvSpPr>
            <p:cNvPr id="20" name="갈매기형 수장 36">
              <a:extLst>
                <a:ext uri="{FF2B5EF4-FFF2-40B4-BE49-F238E27FC236}">
                  <a16:creationId xmlns:a16="http://schemas.microsoft.com/office/drawing/2014/main" id="{34ADA9E2-349E-4A07-90B3-8794BAD18026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설계</a:t>
              </a:r>
            </a:p>
          </p:txBody>
        </p:sp>
        <p:sp>
          <p:nvSpPr>
            <p:cNvPr id="21" name="갈매기형 수장 37">
              <a:extLst>
                <a:ext uri="{FF2B5EF4-FFF2-40B4-BE49-F238E27FC236}">
                  <a16:creationId xmlns:a16="http://schemas.microsoft.com/office/drawing/2014/main" id="{DD254E28-1D06-4B60-AE37-190EA10FA160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구현</a:t>
              </a:r>
              <a:r>
                <a:rPr lang="en-US" altLang="ko-KR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/</a:t>
              </a:r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검증</a:t>
              </a: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1D1CFE8A-18BB-4441-94CE-17089FB35458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3" name="갈매기형 수장 38">
                <a:extLst>
                  <a:ext uri="{FF2B5EF4-FFF2-40B4-BE49-F238E27FC236}">
                    <a16:creationId xmlns:a16="http://schemas.microsoft.com/office/drawing/2014/main" id="{2445F759-8F5D-4D0C-B6AB-154DD451C502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 500C" panose="020B0606030303020204" pitchFamily="50" charset="-127"/>
                    <a:ea typeface="SamsungOneKorean 500C" panose="020B0606030303020204" pitchFamily="50" charset="-127"/>
                  </a:rPr>
                  <a:t>결론</a:t>
                </a: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7513E7AA-4B9F-4FDA-8CD0-98FF1F12A776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 500C" panose="020B0606030303020204" pitchFamily="50" charset="-127"/>
                  <a:ea typeface="SamsungOneKorean 500C" panose="020B0606030303020204" pitchFamily="50" charset="-127"/>
                </a:endParaRPr>
              </a:p>
            </p:txBody>
          </p:sp>
        </p:grp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D0F5BAA7-7524-4BD6-98D9-6FEB7B74344E}"/>
              </a:ext>
            </a:extLst>
          </p:cNvPr>
          <p:cNvSpPr/>
          <p:nvPr/>
        </p:nvSpPr>
        <p:spPr>
          <a:xfrm>
            <a:off x="1453770" y="847255"/>
            <a:ext cx="5124011" cy="573354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1431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DP1. </a:t>
            </a:r>
            <a:r>
              <a:rPr lang="ko-KR" altLang="en-US" sz="2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설계결정 및 근거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3</a:t>
            </a:r>
            <a:endParaRPr lang="ko-KR" altLang="en-US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2ECF92-BC50-45DA-BBE4-8CA768C8FB59}"/>
              </a:ext>
            </a:extLst>
          </p:cNvPr>
          <p:cNvSpPr txBox="1"/>
          <p:nvPr/>
        </p:nvSpPr>
        <p:spPr>
          <a:xfrm>
            <a:off x="596153" y="1021977"/>
            <a:ext cx="10985646" cy="439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최종 채택 구조</a:t>
            </a:r>
            <a:endParaRPr lang="en-US" altLang="ko-KR" sz="16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ㅇㅇㅇㅇㅇ</a:t>
            </a:r>
            <a:r>
              <a:rPr lang="ko-KR" altLang="en-US" sz="1400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 채택</a:t>
            </a:r>
            <a:endParaRPr lang="en-US" altLang="ko-KR" sz="14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1400" dirty="0">
              <a:highlight>
                <a:srgbClr val="FFFF00"/>
              </a:highlight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lvl="1">
              <a:lnSpc>
                <a:spcPct val="150000"/>
              </a:lnSpc>
            </a:pPr>
            <a:endParaRPr lang="ko-KR" altLang="en-US" sz="14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16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채택 근거</a:t>
            </a:r>
            <a:endParaRPr lang="en-US" altLang="ko-KR" sz="16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ㅇㅇㅇㅇ</a:t>
            </a:r>
            <a:endParaRPr lang="en-US" altLang="ko-KR" sz="14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ㅇㅇㅇㅇ</a:t>
            </a:r>
            <a:endParaRPr lang="en-US" altLang="ko-KR" sz="14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ㅇㅇㅇㅇ</a:t>
            </a:r>
            <a:endParaRPr lang="en-US" altLang="ko-KR" sz="14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lvl="1">
              <a:lnSpc>
                <a:spcPct val="150000"/>
              </a:lnSpc>
            </a:pPr>
            <a:endParaRPr lang="ko-KR" altLang="en-US" sz="14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16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보완 계획</a:t>
            </a:r>
            <a:endParaRPr lang="en-US" altLang="ko-KR" sz="16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ㅇㅇㅇㅇ</a:t>
            </a:r>
            <a:endParaRPr lang="en-US" altLang="ko-KR" sz="14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ㅇㅇㅇㅇ</a:t>
            </a:r>
            <a:endParaRPr lang="en-US" altLang="ko-KR" sz="14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lvl="1">
              <a:lnSpc>
                <a:spcPct val="150000"/>
              </a:lnSpc>
            </a:pPr>
            <a:endParaRPr lang="ko-KR" altLang="en-US" sz="1400" dirty="0">
              <a:solidFill>
                <a:srgbClr val="FF0000"/>
              </a:solidFill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A8F8EEA-6DC9-40B0-B7D4-8A0DA68FB413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5" name="오각형 33">
              <a:extLst>
                <a:ext uri="{FF2B5EF4-FFF2-40B4-BE49-F238E27FC236}">
                  <a16:creationId xmlns:a16="http://schemas.microsoft.com/office/drawing/2014/main" id="{E6846BAE-2A78-4464-8C1D-D4C1B162DBB6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과제 소개</a:t>
              </a:r>
            </a:p>
          </p:txBody>
        </p:sp>
        <p:sp>
          <p:nvSpPr>
            <p:cNvPr id="16" name="갈매기형 수장 35">
              <a:extLst>
                <a:ext uri="{FF2B5EF4-FFF2-40B4-BE49-F238E27FC236}">
                  <a16:creationId xmlns:a16="http://schemas.microsoft.com/office/drawing/2014/main" id="{AE62D383-E1C2-4E54-98BA-B2D0BA62BD1C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요구사항</a:t>
              </a:r>
            </a:p>
          </p:txBody>
        </p:sp>
        <p:sp>
          <p:nvSpPr>
            <p:cNvPr id="17" name="갈매기형 수장 36">
              <a:extLst>
                <a:ext uri="{FF2B5EF4-FFF2-40B4-BE49-F238E27FC236}">
                  <a16:creationId xmlns:a16="http://schemas.microsoft.com/office/drawing/2014/main" id="{EAC5F62C-168A-4F93-B451-FB24BD69B8DE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설계</a:t>
              </a:r>
            </a:p>
          </p:txBody>
        </p:sp>
        <p:sp>
          <p:nvSpPr>
            <p:cNvPr id="18" name="갈매기형 수장 37">
              <a:extLst>
                <a:ext uri="{FF2B5EF4-FFF2-40B4-BE49-F238E27FC236}">
                  <a16:creationId xmlns:a16="http://schemas.microsoft.com/office/drawing/2014/main" id="{79E1FAF6-B7DB-4B68-81FE-7BB30F24E860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구현</a:t>
              </a:r>
              <a:r>
                <a:rPr lang="en-US" altLang="ko-KR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/</a:t>
              </a:r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검증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CD49248A-B5F0-4DC6-B99E-32B5C141FD0C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0" name="갈매기형 수장 38">
                <a:extLst>
                  <a:ext uri="{FF2B5EF4-FFF2-40B4-BE49-F238E27FC236}">
                    <a16:creationId xmlns:a16="http://schemas.microsoft.com/office/drawing/2014/main" id="{B93AE81D-553E-40E1-8EFE-6FB53E05F080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 500C" panose="020B0606030303020204" pitchFamily="50" charset="-127"/>
                    <a:ea typeface="SamsungOneKorean 500C" panose="020B0606030303020204" pitchFamily="50" charset="-127"/>
                  </a:rPr>
                  <a:t>결론</a:t>
                </a: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D585A663-A6A2-4349-AB84-10EE41F66683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 500C" panose="020B0606030303020204" pitchFamily="50" charset="-127"/>
                  <a:ea typeface="SamsungOneKorean 500C" panose="020B0606030303020204" pitchFamily="50" charset="-127"/>
                </a:endParaRPr>
              </a:p>
            </p:txBody>
          </p:sp>
        </p:grp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44878E5-D967-438B-B54C-803DDF31D361}"/>
              </a:ext>
            </a:extLst>
          </p:cNvPr>
          <p:cNvSpPr/>
          <p:nvPr/>
        </p:nvSpPr>
        <p:spPr>
          <a:xfrm rot="20977912">
            <a:off x="3471148" y="2048350"/>
            <a:ext cx="5383676" cy="26685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설계 결정 및 근거 작성</a:t>
            </a:r>
            <a:endParaRPr lang="en-US" altLang="ko-KR" dirty="0">
              <a:solidFill>
                <a:schemeClr val="accent5">
                  <a:lumMod val="75000"/>
                </a:schemeClr>
              </a:solidFill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0295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DP2. </a:t>
            </a:r>
            <a:r>
              <a:rPr lang="ko-KR" altLang="en-US" sz="2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설계 문제 정의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3</a:t>
            </a:r>
            <a:endParaRPr lang="ko-KR" altLang="en-US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FB697D-C102-4939-856E-DA48FBA1F838}"/>
              </a:ext>
            </a:extLst>
          </p:cNvPr>
          <p:cNvSpPr txBox="1"/>
          <p:nvPr/>
        </p:nvSpPr>
        <p:spPr>
          <a:xfrm>
            <a:off x="596153" y="857637"/>
            <a:ext cx="10985646" cy="4825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1. </a:t>
            </a:r>
            <a:r>
              <a:rPr lang="ko-KR" altLang="en-US" sz="16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배경</a:t>
            </a:r>
            <a:endParaRPr lang="en-US" altLang="ko-KR" sz="16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1400" b="1" dirty="0" err="1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ㅇㅇㅇㅇ</a:t>
            </a:r>
            <a:endParaRPr lang="en-US" altLang="ko-KR" sz="14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ko-KR" altLang="en-US" sz="1400" dirty="0" err="1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ㅇㅇㅇㅇ</a:t>
            </a:r>
            <a:endParaRPr lang="en-US" altLang="ko-KR" sz="14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1400" b="1" dirty="0" err="1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ㅇㅇㅇㅇ</a:t>
            </a:r>
            <a:endParaRPr lang="en-US" altLang="ko-KR" sz="14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ko-KR" altLang="en-US" sz="1400" dirty="0" err="1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ㅇㅇㅇㅇ</a:t>
            </a:r>
            <a:endParaRPr lang="en-US" altLang="ko-KR" sz="14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285750" indent="-285750">
              <a:lnSpc>
                <a:spcPct val="200000"/>
              </a:lnSpc>
              <a:buFontTx/>
              <a:buChar char="-"/>
            </a:pPr>
            <a:endParaRPr lang="ko-KR" altLang="en-US" sz="12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6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2. </a:t>
            </a:r>
            <a:r>
              <a:rPr lang="ko-KR" altLang="en-US" sz="16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문제점</a:t>
            </a:r>
            <a:endParaRPr lang="en-US" altLang="ko-KR" sz="16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1400" b="1" dirty="0" err="1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ㅇㅇㅇㅇ</a:t>
            </a:r>
            <a:endParaRPr lang="en-US" altLang="ko-KR" sz="14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ko-KR" altLang="en-US" sz="1400" dirty="0" err="1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ㅇㅇㅇㅇ</a:t>
            </a:r>
            <a:endParaRPr lang="en-US" altLang="ko-KR" sz="14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1400" b="1" dirty="0" err="1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ㅇㅇㅇㅇ</a:t>
            </a:r>
            <a:endParaRPr lang="en-US" altLang="ko-KR" sz="14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ko-KR" altLang="en-US" sz="1400" dirty="0" err="1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ㅇㅇㅇㅇ</a:t>
            </a:r>
            <a:endParaRPr lang="en-US" altLang="ko-KR" sz="14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ED95BDB-D048-490D-8A33-487DC6BC925B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5" name="오각형 33">
              <a:extLst>
                <a:ext uri="{FF2B5EF4-FFF2-40B4-BE49-F238E27FC236}">
                  <a16:creationId xmlns:a16="http://schemas.microsoft.com/office/drawing/2014/main" id="{C2C3F738-21AE-4CA6-ABD3-E89A4014745F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과제 소개</a:t>
              </a:r>
            </a:p>
          </p:txBody>
        </p:sp>
        <p:sp>
          <p:nvSpPr>
            <p:cNvPr id="16" name="갈매기형 수장 35">
              <a:extLst>
                <a:ext uri="{FF2B5EF4-FFF2-40B4-BE49-F238E27FC236}">
                  <a16:creationId xmlns:a16="http://schemas.microsoft.com/office/drawing/2014/main" id="{E8710B0C-4B56-4828-A445-7EFAD02EE562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요구사항</a:t>
              </a:r>
            </a:p>
          </p:txBody>
        </p:sp>
        <p:sp>
          <p:nvSpPr>
            <p:cNvPr id="17" name="갈매기형 수장 36">
              <a:extLst>
                <a:ext uri="{FF2B5EF4-FFF2-40B4-BE49-F238E27FC236}">
                  <a16:creationId xmlns:a16="http://schemas.microsoft.com/office/drawing/2014/main" id="{651FB14D-88D0-4E20-8AF6-919D1E63BE12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설계</a:t>
              </a:r>
            </a:p>
          </p:txBody>
        </p:sp>
        <p:sp>
          <p:nvSpPr>
            <p:cNvPr id="18" name="갈매기형 수장 37">
              <a:extLst>
                <a:ext uri="{FF2B5EF4-FFF2-40B4-BE49-F238E27FC236}">
                  <a16:creationId xmlns:a16="http://schemas.microsoft.com/office/drawing/2014/main" id="{13F8088E-93ED-4B72-9015-C46467BA503F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구현</a:t>
              </a:r>
              <a:r>
                <a:rPr lang="en-US" altLang="ko-KR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/</a:t>
              </a:r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검증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BEB1EBAE-8844-48D9-A501-002F76DE8AE1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0" name="갈매기형 수장 38">
                <a:extLst>
                  <a:ext uri="{FF2B5EF4-FFF2-40B4-BE49-F238E27FC236}">
                    <a16:creationId xmlns:a16="http://schemas.microsoft.com/office/drawing/2014/main" id="{C7C3FE47-9CF4-4377-B86A-B09DEC7F4760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 500C" panose="020B0606030303020204" pitchFamily="50" charset="-127"/>
                    <a:ea typeface="SamsungOneKorean 500C" panose="020B0606030303020204" pitchFamily="50" charset="-127"/>
                  </a:rPr>
                  <a:t>결론</a:t>
                </a: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187D2794-B483-4893-9B78-42B199A7DE0D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 500C" panose="020B0606030303020204" pitchFamily="50" charset="-127"/>
                  <a:ea typeface="SamsungOneKorean 500C" panose="020B0606030303020204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75766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976379"/>
              </p:ext>
            </p:extLst>
          </p:nvPr>
        </p:nvGraphicFramePr>
        <p:xfrm>
          <a:off x="524435" y="820350"/>
          <a:ext cx="10924226" cy="56462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6190">
                  <a:extLst>
                    <a:ext uri="{9D8B030D-6E8A-4147-A177-3AD203B41FA5}">
                      <a16:colId xmlns:a16="http://schemas.microsoft.com/office/drawing/2014/main" val="1860507414"/>
                    </a:ext>
                  </a:extLst>
                </a:gridCol>
                <a:gridCol w="4989018">
                  <a:extLst>
                    <a:ext uri="{9D8B030D-6E8A-4147-A177-3AD203B41FA5}">
                      <a16:colId xmlns:a16="http://schemas.microsoft.com/office/drawing/2014/main" val="1112934244"/>
                    </a:ext>
                  </a:extLst>
                </a:gridCol>
                <a:gridCol w="4989018">
                  <a:extLst>
                    <a:ext uri="{9D8B030D-6E8A-4147-A177-3AD203B41FA5}">
                      <a16:colId xmlns:a16="http://schemas.microsoft.com/office/drawing/2014/main" val="2709743984"/>
                    </a:ext>
                  </a:extLst>
                </a:gridCol>
              </a:tblGrid>
              <a:tr h="27631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(1</a:t>
                      </a:r>
                      <a:r>
                        <a:rPr lang="ko-KR" altLang="en-US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안</a:t>
                      </a:r>
                      <a:r>
                        <a:rPr lang="en-US" altLang="ko-KR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) </a:t>
                      </a:r>
                      <a:r>
                        <a:rPr lang="ko-KR" altLang="en-US" sz="1100" b="1" dirty="0" err="1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ㅇㅇㅇㅇ</a:t>
                      </a:r>
                      <a:endParaRPr lang="ko-KR" altLang="en-US" sz="1100" b="1" dirty="0">
                        <a:solidFill>
                          <a:srgbClr val="C0000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(2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안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) 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ㅇㅇㅇㅇ</a:t>
                      </a:r>
                      <a:endParaRPr lang="ko-KR" altLang="en-US" sz="1100" b="1" dirty="0">
                        <a:solidFill>
                          <a:srgbClr val="C0000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597432"/>
                  </a:ext>
                </a:extLst>
              </a:tr>
              <a:tr h="36283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구조</a:t>
                      </a:r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ko-KR" altLang="en-US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555606"/>
                  </a:ext>
                </a:extLst>
              </a:tr>
              <a:tr h="5193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장점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9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507908"/>
                  </a:ext>
                </a:extLst>
              </a:tr>
              <a:tr h="4880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단점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9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703641"/>
                  </a:ext>
                </a:extLst>
              </a:tr>
              <a:tr h="7342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Trade</a:t>
                      </a:r>
                    </a:p>
                    <a:p>
                      <a:pPr algn="ctr" latinLnBrk="1"/>
                      <a:r>
                        <a:rPr lang="en-US" altLang="ko-KR" sz="1000" b="1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Off</a:t>
                      </a:r>
                    </a:p>
                    <a:p>
                      <a:pPr algn="ctr" latinLnBrk="1"/>
                      <a:endParaRPr lang="en-US" altLang="ko-KR" sz="1000" b="1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900" b="0" i="0" u="none" strike="noStrike" kern="1200" baseline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900" b="0" i="0" u="none" strike="noStrike" kern="1200" baseline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082475"/>
                  </a:ext>
                </a:extLst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DP2. </a:t>
            </a:r>
            <a:r>
              <a:rPr lang="ko-KR" altLang="en-US" sz="2400" b="1" dirty="0" err="1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설계안</a:t>
            </a:r>
            <a:r>
              <a:rPr lang="ko-KR" altLang="en-US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 결정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3</a:t>
            </a:r>
            <a:endParaRPr lang="ko-KR" altLang="en-US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1064C80-133C-411E-94A4-C7BF0C88A8B9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8" name="오각형 33">
              <a:extLst>
                <a:ext uri="{FF2B5EF4-FFF2-40B4-BE49-F238E27FC236}">
                  <a16:creationId xmlns:a16="http://schemas.microsoft.com/office/drawing/2014/main" id="{6845291F-1E6B-452F-A335-7DCDFF9130DC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9" name="갈매기형 수장 35">
              <a:extLst>
                <a:ext uri="{FF2B5EF4-FFF2-40B4-BE49-F238E27FC236}">
                  <a16:creationId xmlns:a16="http://schemas.microsoft.com/office/drawing/2014/main" id="{2A38C673-6C16-47D3-8FA9-2C2E762AA405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20" name="갈매기형 수장 36">
              <a:extLst>
                <a:ext uri="{FF2B5EF4-FFF2-40B4-BE49-F238E27FC236}">
                  <a16:creationId xmlns:a16="http://schemas.microsoft.com/office/drawing/2014/main" id="{491FE1BF-74BA-421E-867B-E039F2E86847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21" name="갈매기형 수장 37">
              <a:extLst>
                <a:ext uri="{FF2B5EF4-FFF2-40B4-BE49-F238E27FC236}">
                  <a16:creationId xmlns:a16="http://schemas.microsoft.com/office/drawing/2014/main" id="{74CF41C6-E234-4A8D-A827-BFF2465FB36D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0F72058F-405C-4BD2-B5FC-C6C0A910A2C0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3" name="갈매기형 수장 38">
                <a:extLst>
                  <a:ext uri="{FF2B5EF4-FFF2-40B4-BE49-F238E27FC236}">
                    <a16:creationId xmlns:a16="http://schemas.microsoft.com/office/drawing/2014/main" id="{E541D121-DD11-401A-86F6-30F17EE922A4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33374E88-6777-4ACB-9848-7D9D282A2463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9558B43-DAE9-4697-917D-932F8CA89A17}"/>
              </a:ext>
            </a:extLst>
          </p:cNvPr>
          <p:cNvSpPr/>
          <p:nvPr/>
        </p:nvSpPr>
        <p:spPr>
          <a:xfrm>
            <a:off x="1453771" y="838827"/>
            <a:ext cx="5006024" cy="5646225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8551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DP2. </a:t>
            </a:r>
            <a:r>
              <a:rPr lang="ko-KR" altLang="en-US" sz="2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설계결정 및 근거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3</a:t>
            </a:r>
            <a:endParaRPr lang="ko-KR" altLang="en-US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2ECF92-BC50-45DA-BBE4-8CA768C8FB59}"/>
              </a:ext>
            </a:extLst>
          </p:cNvPr>
          <p:cNvSpPr txBox="1"/>
          <p:nvPr/>
        </p:nvSpPr>
        <p:spPr>
          <a:xfrm>
            <a:off x="596153" y="1021977"/>
            <a:ext cx="10985646" cy="439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최종 채택 구조</a:t>
            </a:r>
            <a:endParaRPr lang="en-US" altLang="ko-KR" sz="16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ㅇㅇㅇㅇㅇ</a:t>
            </a:r>
            <a:r>
              <a:rPr lang="ko-KR" altLang="en-US" sz="1400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 채택</a:t>
            </a:r>
            <a:endParaRPr lang="en-US" altLang="ko-KR" sz="14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1400" dirty="0">
              <a:highlight>
                <a:srgbClr val="FFFF00"/>
              </a:highlight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lvl="1">
              <a:lnSpc>
                <a:spcPct val="150000"/>
              </a:lnSpc>
            </a:pPr>
            <a:endParaRPr lang="ko-KR" altLang="en-US" sz="14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16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채택 근거</a:t>
            </a:r>
            <a:endParaRPr lang="en-US" altLang="ko-KR" sz="16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ㅇㅇㅇㅇ</a:t>
            </a:r>
            <a:endParaRPr lang="en-US" altLang="ko-KR" sz="14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ㅇㅇㅇㅇ</a:t>
            </a:r>
            <a:endParaRPr lang="en-US" altLang="ko-KR" sz="14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ㅇㅇㅇㅇ</a:t>
            </a:r>
            <a:endParaRPr lang="en-US" altLang="ko-KR" sz="14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lvl="1">
              <a:lnSpc>
                <a:spcPct val="150000"/>
              </a:lnSpc>
            </a:pPr>
            <a:endParaRPr lang="ko-KR" altLang="en-US" sz="14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16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보완 계획</a:t>
            </a:r>
            <a:endParaRPr lang="en-US" altLang="ko-KR" sz="16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ㅇㅇㅇㅇ</a:t>
            </a:r>
            <a:endParaRPr lang="en-US" altLang="ko-KR" sz="14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ㅇㅇㅇㅇ</a:t>
            </a:r>
            <a:endParaRPr lang="en-US" altLang="ko-KR" sz="14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lvl="1">
              <a:lnSpc>
                <a:spcPct val="150000"/>
              </a:lnSpc>
            </a:pPr>
            <a:endParaRPr lang="ko-KR" altLang="en-US" sz="1400" dirty="0">
              <a:solidFill>
                <a:srgbClr val="FF0000"/>
              </a:solidFill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A8F8EEA-6DC9-40B0-B7D4-8A0DA68FB413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5" name="오각형 33">
              <a:extLst>
                <a:ext uri="{FF2B5EF4-FFF2-40B4-BE49-F238E27FC236}">
                  <a16:creationId xmlns:a16="http://schemas.microsoft.com/office/drawing/2014/main" id="{E6846BAE-2A78-4464-8C1D-D4C1B162DBB6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과제 소개</a:t>
              </a:r>
            </a:p>
          </p:txBody>
        </p:sp>
        <p:sp>
          <p:nvSpPr>
            <p:cNvPr id="16" name="갈매기형 수장 35">
              <a:extLst>
                <a:ext uri="{FF2B5EF4-FFF2-40B4-BE49-F238E27FC236}">
                  <a16:creationId xmlns:a16="http://schemas.microsoft.com/office/drawing/2014/main" id="{AE62D383-E1C2-4E54-98BA-B2D0BA62BD1C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요구사항</a:t>
              </a:r>
            </a:p>
          </p:txBody>
        </p:sp>
        <p:sp>
          <p:nvSpPr>
            <p:cNvPr id="17" name="갈매기형 수장 36">
              <a:extLst>
                <a:ext uri="{FF2B5EF4-FFF2-40B4-BE49-F238E27FC236}">
                  <a16:creationId xmlns:a16="http://schemas.microsoft.com/office/drawing/2014/main" id="{EAC5F62C-168A-4F93-B451-FB24BD69B8DE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설계</a:t>
              </a:r>
            </a:p>
          </p:txBody>
        </p:sp>
        <p:sp>
          <p:nvSpPr>
            <p:cNvPr id="18" name="갈매기형 수장 37">
              <a:extLst>
                <a:ext uri="{FF2B5EF4-FFF2-40B4-BE49-F238E27FC236}">
                  <a16:creationId xmlns:a16="http://schemas.microsoft.com/office/drawing/2014/main" id="{79E1FAF6-B7DB-4B68-81FE-7BB30F24E860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구현</a:t>
              </a:r>
              <a:r>
                <a:rPr lang="en-US" altLang="ko-KR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/</a:t>
              </a:r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검증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CD49248A-B5F0-4DC6-B99E-32B5C141FD0C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0" name="갈매기형 수장 38">
                <a:extLst>
                  <a:ext uri="{FF2B5EF4-FFF2-40B4-BE49-F238E27FC236}">
                    <a16:creationId xmlns:a16="http://schemas.microsoft.com/office/drawing/2014/main" id="{B93AE81D-553E-40E1-8EFE-6FB53E05F080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 500C" panose="020B0606030303020204" pitchFamily="50" charset="-127"/>
                    <a:ea typeface="SamsungOneKorean 500C" panose="020B0606030303020204" pitchFamily="50" charset="-127"/>
                  </a:rPr>
                  <a:t>결론</a:t>
                </a: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D585A663-A6A2-4349-AB84-10EE41F66683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 500C" panose="020B0606030303020204" pitchFamily="50" charset="-127"/>
                  <a:ea typeface="SamsungOneKorean 500C" panose="020B0606030303020204" pitchFamily="50" charset="-127"/>
                </a:endParaRPr>
              </a:p>
            </p:txBody>
          </p:sp>
        </p:grp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689728A-ED59-497A-903B-F8A4C8EC1247}"/>
              </a:ext>
            </a:extLst>
          </p:cNvPr>
          <p:cNvSpPr/>
          <p:nvPr/>
        </p:nvSpPr>
        <p:spPr>
          <a:xfrm rot="20977912">
            <a:off x="3471148" y="2048350"/>
            <a:ext cx="5383676" cy="26685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설계 결정 및 근거 작성</a:t>
            </a:r>
            <a:endParaRPr lang="en-US" altLang="ko-KR" dirty="0">
              <a:solidFill>
                <a:schemeClr val="accent5">
                  <a:lumMod val="75000"/>
                </a:schemeClr>
              </a:solidFill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889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ko-KR" altLang="en-US" sz="2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최종 </a:t>
            </a:r>
            <a:r>
              <a:rPr lang="en-US" altLang="ko-KR" sz="2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Architecture (1/2)</a:t>
            </a:r>
            <a:endParaRPr lang="ko-KR" altLang="en-US" sz="24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3</a:t>
            </a:r>
            <a:endParaRPr lang="ko-KR" altLang="en-US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C1356EE-1076-47F8-8117-D9F9CD24DF68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5" name="오각형 33">
              <a:extLst>
                <a:ext uri="{FF2B5EF4-FFF2-40B4-BE49-F238E27FC236}">
                  <a16:creationId xmlns:a16="http://schemas.microsoft.com/office/drawing/2014/main" id="{F2C333AB-8302-4F1E-9EC6-A01CA6D96011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과제 소개</a:t>
              </a:r>
            </a:p>
          </p:txBody>
        </p:sp>
        <p:sp>
          <p:nvSpPr>
            <p:cNvPr id="16" name="갈매기형 수장 35">
              <a:extLst>
                <a:ext uri="{FF2B5EF4-FFF2-40B4-BE49-F238E27FC236}">
                  <a16:creationId xmlns:a16="http://schemas.microsoft.com/office/drawing/2014/main" id="{C328CCBF-3BFE-4A5D-ADA3-87B478663DB4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요구사항</a:t>
              </a:r>
            </a:p>
          </p:txBody>
        </p:sp>
        <p:sp>
          <p:nvSpPr>
            <p:cNvPr id="17" name="갈매기형 수장 36">
              <a:extLst>
                <a:ext uri="{FF2B5EF4-FFF2-40B4-BE49-F238E27FC236}">
                  <a16:creationId xmlns:a16="http://schemas.microsoft.com/office/drawing/2014/main" id="{8ECD430F-891D-4147-8592-B100E3A28D5C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설계</a:t>
              </a:r>
            </a:p>
          </p:txBody>
        </p:sp>
        <p:sp>
          <p:nvSpPr>
            <p:cNvPr id="18" name="갈매기형 수장 37">
              <a:extLst>
                <a:ext uri="{FF2B5EF4-FFF2-40B4-BE49-F238E27FC236}">
                  <a16:creationId xmlns:a16="http://schemas.microsoft.com/office/drawing/2014/main" id="{7B11BF6A-417C-4266-B244-2732F029F274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구현</a:t>
              </a:r>
              <a:r>
                <a:rPr lang="en-US" altLang="ko-KR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/</a:t>
              </a:r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검증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9B3834C9-D0D2-4FC3-9709-C714C323F015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0" name="갈매기형 수장 38">
                <a:extLst>
                  <a:ext uri="{FF2B5EF4-FFF2-40B4-BE49-F238E27FC236}">
                    <a16:creationId xmlns:a16="http://schemas.microsoft.com/office/drawing/2014/main" id="{C8B63D2B-646C-43D8-AD70-FDB790A52ADF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 500C" panose="020B0606030303020204" pitchFamily="50" charset="-127"/>
                    <a:ea typeface="SamsungOneKorean 500C" panose="020B0606030303020204" pitchFamily="50" charset="-127"/>
                  </a:rPr>
                  <a:t>결론</a:t>
                </a: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F23B019E-23C7-4C52-A751-81739D12C00C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 500C" panose="020B0606030303020204" pitchFamily="50" charset="-127"/>
                  <a:ea typeface="SamsungOneKorean 500C" panose="020B0606030303020204" pitchFamily="50" charset="-127"/>
                </a:endParaRPr>
              </a:p>
            </p:txBody>
          </p:sp>
        </p:grp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8A1C60F-A19B-4612-A368-60E58571D686}"/>
              </a:ext>
            </a:extLst>
          </p:cNvPr>
          <p:cNvSpPr/>
          <p:nvPr/>
        </p:nvSpPr>
        <p:spPr>
          <a:xfrm rot="20977912">
            <a:off x="3178764" y="2800260"/>
            <a:ext cx="3949951" cy="17283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주요 </a:t>
            </a:r>
            <a:r>
              <a:rPr lang="ko-KR" altLang="en-US" dirty="0" err="1">
                <a:solidFill>
                  <a:schemeClr val="accent5">
                    <a:lumMod val="75000"/>
                  </a:schemeClr>
                </a:solidFill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아키텍쳐</a:t>
            </a: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 구조 명세 작성</a:t>
            </a:r>
            <a:endParaRPr lang="en-US" altLang="ko-KR" dirty="0">
              <a:solidFill>
                <a:schemeClr val="accent5">
                  <a:lumMod val="75000"/>
                </a:schemeClr>
              </a:solidFill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6258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ko-KR" altLang="en-US" sz="2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최종 </a:t>
            </a:r>
            <a:r>
              <a:rPr lang="en-US" altLang="ko-KR" sz="2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Architecture (2/2)</a:t>
            </a:r>
            <a:endParaRPr lang="ko-KR" altLang="en-US" sz="24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3</a:t>
            </a:r>
            <a:endParaRPr lang="ko-KR" altLang="en-US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0C812D7-D514-431B-98FF-659F779F921A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5" name="오각형 33">
              <a:extLst>
                <a:ext uri="{FF2B5EF4-FFF2-40B4-BE49-F238E27FC236}">
                  <a16:creationId xmlns:a16="http://schemas.microsoft.com/office/drawing/2014/main" id="{BEF4799B-C84A-4632-9119-FFD16004E795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과제 소개</a:t>
              </a:r>
            </a:p>
          </p:txBody>
        </p:sp>
        <p:sp>
          <p:nvSpPr>
            <p:cNvPr id="16" name="갈매기형 수장 35">
              <a:extLst>
                <a:ext uri="{FF2B5EF4-FFF2-40B4-BE49-F238E27FC236}">
                  <a16:creationId xmlns:a16="http://schemas.microsoft.com/office/drawing/2014/main" id="{06478DA8-BAC8-4CAB-BB00-FFD2C3ACE309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요구사항</a:t>
              </a:r>
            </a:p>
          </p:txBody>
        </p:sp>
        <p:sp>
          <p:nvSpPr>
            <p:cNvPr id="17" name="갈매기형 수장 36">
              <a:extLst>
                <a:ext uri="{FF2B5EF4-FFF2-40B4-BE49-F238E27FC236}">
                  <a16:creationId xmlns:a16="http://schemas.microsoft.com/office/drawing/2014/main" id="{E61592E6-6FD3-4067-B583-BE7E8B9DE4CD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설계</a:t>
              </a:r>
            </a:p>
          </p:txBody>
        </p:sp>
        <p:sp>
          <p:nvSpPr>
            <p:cNvPr id="18" name="갈매기형 수장 37">
              <a:extLst>
                <a:ext uri="{FF2B5EF4-FFF2-40B4-BE49-F238E27FC236}">
                  <a16:creationId xmlns:a16="http://schemas.microsoft.com/office/drawing/2014/main" id="{97D6E17C-507B-43FB-AD7C-6B798427A3EF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구현</a:t>
              </a:r>
              <a:r>
                <a:rPr lang="en-US" altLang="ko-KR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/</a:t>
              </a:r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검증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F48B2554-4628-4371-A032-B14AD0CFDBD0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0" name="갈매기형 수장 38">
                <a:extLst>
                  <a:ext uri="{FF2B5EF4-FFF2-40B4-BE49-F238E27FC236}">
                    <a16:creationId xmlns:a16="http://schemas.microsoft.com/office/drawing/2014/main" id="{D19DA8E5-C597-4D61-B3D2-496CA117FE81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 500C" panose="020B0606030303020204" pitchFamily="50" charset="-127"/>
                    <a:ea typeface="SamsungOneKorean 500C" panose="020B0606030303020204" pitchFamily="50" charset="-127"/>
                  </a:rPr>
                  <a:t>결론</a:t>
                </a: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6C8F4275-34F4-48C6-AFD6-7998CF0CE31C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 500C" panose="020B0606030303020204" pitchFamily="50" charset="-127"/>
                  <a:ea typeface="SamsungOneKorean 500C" panose="020B0606030303020204" pitchFamily="50" charset="-127"/>
                </a:endParaRPr>
              </a:p>
            </p:txBody>
          </p:sp>
        </p:grp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C201AEA-373D-4D6A-8D8F-E7E45125EAF3}"/>
              </a:ext>
            </a:extLst>
          </p:cNvPr>
          <p:cNvSpPr/>
          <p:nvPr/>
        </p:nvSpPr>
        <p:spPr>
          <a:xfrm rot="20977912">
            <a:off x="3178764" y="2800260"/>
            <a:ext cx="3949951" cy="17283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주요 </a:t>
            </a:r>
            <a:r>
              <a:rPr lang="ko-KR" altLang="en-US" dirty="0" err="1">
                <a:solidFill>
                  <a:schemeClr val="accent5">
                    <a:lumMod val="75000"/>
                  </a:schemeClr>
                </a:solidFill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아키텍쳐</a:t>
            </a: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 구조 명세 작성</a:t>
            </a:r>
            <a:endParaRPr lang="en-US" altLang="ko-KR" dirty="0">
              <a:solidFill>
                <a:schemeClr val="accent5">
                  <a:lumMod val="75000"/>
                </a:schemeClr>
              </a:solidFill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3857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ko-KR" altLang="en-US" sz="2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품질속성 검증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4</a:t>
            </a:r>
            <a:endParaRPr lang="ko-KR" altLang="en-US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604871"/>
              </p:ext>
            </p:extLst>
          </p:nvPr>
        </p:nvGraphicFramePr>
        <p:xfrm>
          <a:off x="160699" y="952073"/>
          <a:ext cx="11865569" cy="53567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6558">
                  <a:extLst>
                    <a:ext uri="{9D8B030D-6E8A-4147-A177-3AD203B41FA5}">
                      <a16:colId xmlns:a16="http://schemas.microsoft.com/office/drawing/2014/main" val="1151322654"/>
                    </a:ext>
                  </a:extLst>
                </a:gridCol>
                <a:gridCol w="922943">
                  <a:extLst>
                    <a:ext uri="{9D8B030D-6E8A-4147-A177-3AD203B41FA5}">
                      <a16:colId xmlns:a16="http://schemas.microsoft.com/office/drawing/2014/main" val="2665338150"/>
                    </a:ext>
                  </a:extLst>
                </a:gridCol>
                <a:gridCol w="2009775">
                  <a:extLst>
                    <a:ext uri="{9D8B030D-6E8A-4147-A177-3AD203B41FA5}">
                      <a16:colId xmlns:a16="http://schemas.microsoft.com/office/drawing/2014/main" val="1374002975"/>
                    </a:ext>
                  </a:extLst>
                </a:gridCol>
                <a:gridCol w="4143463">
                  <a:extLst>
                    <a:ext uri="{9D8B030D-6E8A-4147-A177-3AD203B41FA5}">
                      <a16:colId xmlns:a16="http://schemas.microsoft.com/office/drawing/2014/main" val="1810519564"/>
                    </a:ext>
                  </a:extLst>
                </a:gridCol>
                <a:gridCol w="3743237">
                  <a:extLst>
                    <a:ext uri="{9D8B030D-6E8A-4147-A177-3AD203B41FA5}">
                      <a16:colId xmlns:a16="http://schemas.microsoft.com/office/drawing/2014/main" val="2774603272"/>
                    </a:ext>
                  </a:extLst>
                </a:gridCol>
                <a:gridCol w="529593">
                  <a:extLst>
                    <a:ext uri="{9D8B030D-6E8A-4147-A177-3AD203B41FA5}">
                      <a16:colId xmlns:a16="http://schemas.microsoft.com/office/drawing/2014/main" val="532618218"/>
                    </a:ext>
                  </a:extLst>
                </a:gridCol>
              </a:tblGrid>
              <a:tr h="4286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1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ID</a:t>
                      </a:r>
                      <a:endParaRPr lang="ko-KR" altLang="en-US" sz="1100" b="1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QA</a:t>
                      </a:r>
                      <a:endParaRPr lang="ko-KR" altLang="en-US" sz="11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시나리오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검증결과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달성</a:t>
                      </a:r>
                      <a:br>
                        <a:rPr lang="en-US" altLang="ko-KR" sz="12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</a:br>
                      <a:r>
                        <a:rPr lang="ko-KR" altLang="en-US" sz="12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607065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QA1</a:t>
                      </a:r>
                      <a:endParaRPr lang="ko-KR" altLang="en-US" sz="10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baseline="0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</a:pPr>
                      <a:endParaRPr lang="en-US" altLang="ko-KR" sz="1000" b="0" i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133263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QA2</a:t>
                      </a:r>
                      <a:endParaRPr lang="ko-KR" altLang="en-US" sz="1000" b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endParaRPr lang="en-US" altLang="ko-KR" sz="1000" b="0" baseline="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</a:pPr>
                      <a:endParaRPr lang="ko-KR" altLang="en-US" sz="1000" b="0" i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986240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QA3</a:t>
                      </a:r>
                      <a:endParaRPr lang="ko-KR" altLang="en-US" sz="10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</a:pPr>
                      <a:endParaRPr lang="ko-KR" altLang="en-US" sz="1000" b="0" i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238275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QA4</a:t>
                      </a:r>
                      <a:endParaRPr lang="ko-KR" altLang="en-US" sz="10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61626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5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5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900" b="0" baseline="0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</a:pPr>
                      <a:endParaRPr lang="ko-KR" altLang="en-US" sz="1100" b="0" i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100" b="1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27464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5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900" b="0" baseline="0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</a:pPr>
                      <a:endParaRPr lang="ko-KR" altLang="en-US" sz="1100" b="0" i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100" b="1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881057"/>
                  </a:ext>
                </a:extLst>
              </a:tr>
            </a:tbl>
          </a:graphicData>
        </a:graphic>
      </p:graphicFrame>
      <p:grpSp>
        <p:nvGrpSpPr>
          <p:cNvPr id="15" name="그룹 14">
            <a:extLst>
              <a:ext uri="{FF2B5EF4-FFF2-40B4-BE49-F238E27FC236}">
                <a16:creationId xmlns:a16="http://schemas.microsoft.com/office/drawing/2014/main" id="{F3DC5F3D-A62C-4392-AEE9-F5E0E0D65BE9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6" name="오각형 33">
              <a:extLst>
                <a:ext uri="{FF2B5EF4-FFF2-40B4-BE49-F238E27FC236}">
                  <a16:creationId xmlns:a16="http://schemas.microsoft.com/office/drawing/2014/main" id="{2BF51B14-E90F-43AC-86DB-7A830743F103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과제 소개</a:t>
              </a:r>
            </a:p>
          </p:txBody>
        </p:sp>
        <p:sp>
          <p:nvSpPr>
            <p:cNvPr id="17" name="갈매기형 수장 35">
              <a:extLst>
                <a:ext uri="{FF2B5EF4-FFF2-40B4-BE49-F238E27FC236}">
                  <a16:creationId xmlns:a16="http://schemas.microsoft.com/office/drawing/2014/main" id="{D86F6401-FC8D-4055-9777-BCB965F4E43D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요구사항</a:t>
              </a:r>
            </a:p>
          </p:txBody>
        </p:sp>
        <p:sp>
          <p:nvSpPr>
            <p:cNvPr id="18" name="갈매기형 수장 36">
              <a:extLst>
                <a:ext uri="{FF2B5EF4-FFF2-40B4-BE49-F238E27FC236}">
                  <a16:creationId xmlns:a16="http://schemas.microsoft.com/office/drawing/2014/main" id="{C9CE3F12-2EA9-4B0C-8AE8-45AC66F6D1A9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설계</a:t>
              </a:r>
            </a:p>
          </p:txBody>
        </p:sp>
        <p:sp>
          <p:nvSpPr>
            <p:cNvPr id="19" name="갈매기형 수장 37">
              <a:extLst>
                <a:ext uri="{FF2B5EF4-FFF2-40B4-BE49-F238E27FC236}">
                  <a16:creationId xmlns:a16="http://schemas.microsoft.com/office/drawing/2014/main" id="{D441322C-63A8-4A9F-A489-568D055B6AAA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구현</a:t>
              </a:r>
              <a:r>
                <a:rPr lang="en-US" altLang="ko-KR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/</a:t>
              </a:r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검증</a:t>
              </a: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8F364EDE-7711-48FA-B4C0-EF3EC7A97A90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1" name="갈매기형 수장 38">
                <a:extLst>
                  <a:ext uri="{FF2B5EF4-FFF2-40B4-BE49-F238E27FC236}">
                    <a16:creationId xmlns:a16="http://schemas.microsoft.com/office/drawing/2014/main" id="{455BA281-969D-4D23-868A-2221CFD695F9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 500C" panose="020B0606030303020204" pitchFamily="50" charset="-127"/>
                    <a:ea typeface="SamsungOneKorean 500C" panose="020B0606030303020204" pitchFamily="50" charset="-127"/>
                  </a:rPr>
                  <a:t>결론</a:t>
                </a:r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F4A165AA-BE94-40F5-94F7-A358B9F4D66D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 500C" panose="020B0606030303020204" pitchFamily="50" charset="-127"/>
                  <a:ea typeface="SamsungOneKorean 500C" panose="020B0606030303020204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64325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ko-KR" altLang="en-US" sz="2400" b="1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구현</a:t>
            </a:r>
            <a:endParaRPr lang="ko-KR" altLang="en-US" sz="24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4</a:t>
            </a:r>
            <a:endParaRPr lang="ko-KR" altLang="en-US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DA5D580-C49C-4EED-BC0A-317AFE605ADD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7" name="오각형 33">
              <a:extLst>
                <a:ext uri="{FF2B5EF4-FFF2-40B4-BE49-F238E27FC236}">
                  <a16:creationId xmlns:a16="http://schemas.microsoft.com/office/drawing/2014/main" id="{5C2796AB-C023-4E4A-BE94-37EC2CE30AA9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과제 소개</a:t>
              </a:r>
            </a:p>
          </p:txBody>
        </p:sp>
        <p:sp>
          <p:nvSpPr>
            <p:cNvPr id="18" name="갈매기형 수장 35">
              <a:extLst>
                <a:ext uri="{FF2B5EF4-FFF2-40B4-BE49-F238E27FC236}">
                  <a16:creationId xmlns:a16="http://schemas.microsoft.com/office/drawing/2014/main" id="{F1BBBAD0-1337-4E1F-A92C-5E197F05735C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요구사항</a:t>
              </a:r>
            </a:p>
          </p:txBody>
        </p:sp>
        <p:sp>
          <p:nvSpPr>
            <p:cNvPr id="26" name="갈매기형 수장 36">
              <a:extLst>
                <a:ext uri="{FF2B5EF4-FFF2-40B4-BE49-F238E27FC236}">
                  <a16:creationId xmlns:a16="http://schemas.microsoft.com/office/drawing/2014/main" id="{C574B9D6-AED7-4482-A630-68E2D5016F7F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설계</a:t>
              </a:r>
            </a:p>
          </p:txBody>
        </p:sp>
        <p:sp>
          <p:nvSpPr>
            <p:cNvPr id="27" name="갈매기형 수장 37">
              <a:extLst>
                <a:ext uri="{FF2B5EF4-FFF2-40B4-BE49-F238E27FC236}">
                  <a16:creationId xmlns:a16="http://schemas.microsoft.com/office/drawing/2014/main" id="{E30FA471-002E-41AF-9DB8-7756D9F30035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구현</a:t>
              </a:r>
              <a:r>
                <a:rPr lang="en-US" altLang="ko-KR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/</a:t>
              </a:r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검증</a:t>
              </a: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55825C78-1AD6-4D4B-9A83-6FF2F3C572F3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9" name="갈매기형 수장 38">
                <a:extLst>
                  <a:ext uri="{FF2B5EF4-FFF2-40B4-BE49-F238E27FC236}">
                    <a16:creationId xmlns:a16="http://schemas.microsoft.com/office/drawing/2014/main" id="{917D2E7C-CC5A-4F1F-88BB-6D056B50BE5A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 500C" panose="020B0606030303020204" pitchFamily="50" charset="-127"/>
                    <a:ea typeface="SamsungOneKorean 500C" panose="020B0606030303020204" pitchFamily="50" charset="-127"/>
                  </a:rPr>
                  <a:t>결론</a:t>
                </a:r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0D4450CD-837B-4141-813D-54EEBA9C5985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 500C" panose="020B0606030303020204" pitchFamily="50" charset="-127"/>
                  <a:ea typeface="SamsungOneKorean 500C" panose="020B0606030303020204" pitchFamily="50" charset="-127"/>
                </a:endParaRPr>
              </a:p>
            </p:txBody>
          </p:sp>
        </p:grp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FFAD063-F431-454E-98CA-89D21AD682CD}"/>
              </a:ext>
            </a:extLst>
          </p:cNvPr>
          <p:cNvSpPr/>
          <p:nvPr/>
        </p:nvSpPr>
        <p:spPr>
          <a:xfrm rot="20977912">
            <a:off x="2839964" y="804350"/>
            <a:ext cx="5383676" cy="18845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결과물 정리 </a:t>
            </a:r>
            <a:r>
              <a:rPr lang="en-US" altLang="ko-KR" dirty="0">
                <a:solidFill>
                  <a:schemeClr val="accent5">
                    <a:lumMod val="75000"/>
                  </a:schemeClr>
                </a:solidFill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(PoC, </a:t>
            </a: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데모</a:t>
            </a:r>
            <a:r>
              <a:rPr lang="en-US" altLang="ko-KR" dirty="0">
                <a:solidFill>
                  <a:schemeClr val="accent5">
                    <a:lumMod val="75000"/>
                  </a:schemeClr>
                </a:solidFill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, </a:t>
            </a: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영상 등</a:t>
            </a:r>
            <a:r>
              <a:rPr lang="en-US" altLang="ko-KR" dirty="0">
                <a:solidFill>
                  <a:schemeClr val="accent5">
                    <a:lumMod val="75000"/>
                  </a:schemeClr>
                </a:solidFill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accent5">
                    <a:lumMod val="75000"/>
                  </a:schemeClr>
                </a:solidFill>
                <a:highlight>
                  <a:srgbClr val="C0C0C0"/>
                </a:highlight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AI </a:t>
            </a:r>
            <a:r>
              <a:rPr lang="ko-KR" altLang="en-US" b="1" dirty="0">
                <a:solidFill>
                  <a:schemeClr val="accent5">
                    <a:lumMod val="75000"/>
                  </a:schemeClr>
                </a:solidFill>
                <a:highlight>
                  <a:srgbClr val="C0C0C0"/>
                </a:highlight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모델</a:t>
            </a:r>
            <a:r>
              <a:rPr lang="en-US" altLang="ko-KR" b="1" dirty="0">
                <a:solidFill>
                  <a:schemeClr val="accent5">
                    <a:lumMod val="75000"/>
                  </a:schemeClr>
                </a:solidFill>
                <a:highlight>
                  <a:srgbClr val="C0C0C0"/>
                </a:highlight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, </a:t>
            </a:r>
            <a:r>
              <a:rPr lang="ko-KR" altLang="en-US" b="1" dirty="0">
                <a:solidFill>
                  <a:schemeClr val="accent5">
                    <a:lumMod val="75000"/>
                  </a:schemeClr>
                </a:solidFill>
                <a:highlight>
                  <a:srgbClr val="C0C0C0"/>
                </a:highlight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데이터 </a:t>
            </a: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등 반드시 기입</a:t>
            </a:r>
            <a:endParaRPr lang="en-US" altLang="ko-KR" dirty="0">
              <a:solidFill>
                <a:schemeClr val="accent5">
                  <a:lumMod val="75000"/>
                </a:schemeClr>
              </a:solidFill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0278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4BE66A-59AB-49F5-A404-B8B18029471F}"/>
              </a:ext>
            </a:extLst>
          </p:cNvPr>
          <p:cNvSpPr txBox="1"/>
          <p:nvPr/>
        </p:nvSpPr>
        <p:spPr>
          <a:xfrm>
            <a:off x="596153" y="1021977"/>
            <a:ext cx="10985646" cy="2491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주요 성과</a:t>
            </a:r>
          </a:p>
          <a:p>
            <a:pPr lvl="1">
              <a:lnSpc>
                <a:spcPct val="150000"/>
              </a:lnSpc>
            </a:pPr>
            <a:endParaRPr lang="en-US" altLang="ko-KR" sz="14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lvl="1">
              <a:lnSpc>
                <a:spcPct val="150000"/>
              </a:lnSpc>
            </a:pPr>
            <a:endParaRPr lang="en-US" altLang="ko-KR" sz="14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lvl="1">
              <a:lnSpc>
                <a:spcPct val="150000"/>
              </a:lnSpc>
            </a:pPr>
            <a:endParaRPr lang="en-US" altLang="ko-KR" sz="14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16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향후 계획</a:t>
            </a:r>
            <a:endParaRPr lang="en-US" altLang="ko-KR" sz="16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endParaRPr lang="en-US" altLang="ko-KR" sz="16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endParaRPr lang="ko-KR" altLang="en-US" sz="16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ko-KR" altLang="en-US" sz="2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결론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4</a:t>
            </a:r>
            <a:endParaRPr lang="ko-KR" altLang="en-US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DA5D580-C49C-4EED-BC0A-317AFE605ADD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7" name="오각형 33">
              <a:extLst>
                <a:ext uri="{FF2B5EF4-FFF2-40B4-BE49-F238E27FC236}">
                  <a16:creationId xmlns:a16="http://schemas.microsoft.com/office/drawing/2014/main" id="{5C2796AB-C023-4E4A-BE94-37EC2CE30AA9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과제 소개</a:t>
              </a:r>
            </a:p>
          </p:txBody>
        </p:sp>
        <p:sp>
          <p:nvSpPr>
            <p:cNvPr id="18" name="갈매기형 수장 35">
              <a:extLst>
                <a:ext uri="{FF2B5EF4-FFF2-40B4-BE49-F238E27FC236}">
                  <a16:creationId xmlns:a16="http://schemas.microsoft.com/office/drawing/2014/main" id="{F1BBBAD0-1337-4E1F-A92C-5E197F05735C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요구사항</a:t>
              </a:r>
            </a:p>
          </p:txBody>
        </p:sp>
        <p:sp>
          <p:nvSpPr>
            <p:cNvPr id="26" name="갈매기형 수장 36">
              <a:extLst>
                <a:ext uri="{FF2B5EF4-FFF2-40B4-BE49-F238E27FC236}">
                  <a16:creationId xmlns:a16="http://schemas.microsoft.com/office/drawing/2014/main" id="{C574B9D6-AED7-4482-A630-68E2D5016F7F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설계</a:t>
              </a:r>
            </a:p>
          </p:txBody>
        </p:sp>
        <p:sp>
          <p:nvSpPr>
            <p:cNvPr id="27" name="갈매기형 수장 37">
              <a:extLst>
                <a:ext uri="{FF2B5EF4-FFF2-40B4-BE49-F238E27FC236}">
                  <a16:creationId xmlns:a16="http://schemas.microsoft.com/office/drawing/2014/main" id="{E30FA471-002E-41AF-9DB8-7756D9F30035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구현</a:t>
              </a:r>
              <a:r>
                <a:rPr lang="en-US" altLang="ko-KR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/</a:t>
              </a:r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검증</a:t>
              </a: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55825C78-1AD6-4D4B-9A83-6FF2F3C572F3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9" name="갈매기형 수장 38">
                <a:extLst>
                  <a:ext uri="{FF2B5EF4-FFF2-40B4-BE49-F238E27FC236}">
                    <a16:creationId xmlns:a16="http://schemas.microsoft.com/office/drawing/2014/main" id="{917D2E7C-CC5A-4F1F-88BB-6D056B50BE5A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 500C" panose="020B0606030303020204" pitchFamily="50" charset="-127"/>
                    <a:ea typeface="SamsungOneKorean 500C" panose="020B0606030303020204" pitchFamily="50" charset="-127"/>
                  </a:rPr>
                  <a:t>결론</a:t>
                </a:r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0D4450CD-837B-4141-813D-54EEBA9C5985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 500C" panose="020B0606030303020204" pitchFamily="50" charset="-127"/>
                  <a:ea typeface="SamsungOneKorean 500C" panose="020B0606030303020204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566906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-180049" y="1978466"/>
            <a:ext cx="3167365" cy="3092534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40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Appendix </a:t>
            </a:r>
            <a:endParaRPr lang="ko-KR" altLang="en-US" sz="40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75265" y="3153905"/>
            <a:ext cx="635287" cy="63528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5080" y="3789192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76860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AAD3E3-B09F-4693-A5CE-23D0E1FCB61C}"/>
              </a:ext>
            </a:extLst>
          </p:cNvPr>
          <p:cNvSpPr txBox="1"/>
          <p:nvPr/>
        </p:nvSpPr>
        <p:spPr>
          <a:xfrm>
            <a:off x="596153" y="1021977"/>
            <a:ext cx="10985646" cy="4811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측정 지표 및 평가 기준</a:t>
            </a:r>
            <a:endParaRPr lang="en-US" altLang="ko-KR" sz="14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산출 근거</a:t>
            </a:r>
            <a:endParaRPr lang="en-US" altLang="ko-KR" sz="14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 err="1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ㅇㅇㅇ</a:t>
            </a:r>
            <a:endParaRPr lang="en-US" altLang="ko-KR" sz="12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 err="1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ㅇㅇㅇ</a:t>
            </a:r>
            <a:endParaRPr lang="ko-KR" altLang="en-US" sz="1200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0832D001-7212-42AC-93A7-2C44564EF0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785943"/>
              </p:ext>
            </p:extLst>
          </p:nvPr>
        </p:nvGraphicFramePr>
        <p:xfrm>
          <a:off x="741313" y="1456112"/>
          <a:ext cx="10854534" cy="3002112"/>
        </p:xfrm>
        <a:graphic>
          <a:graphicData uri="http://schemas.openxmlformats.org/drawingml/2006/table">
            <a:tbl>
              <a:tblPr>
                <a:tableStyleId>{2A488322-F2BA-4B5B-9748-0D474271808F}</a:tableStyleId>
              </a:tblPr>
              <a:tblGrid>
                <a:gridCol w="2578879">
                  <a:extLst>
                    <a:ext uri="{9D8B030D-6E8A-4147-A177-3AD203B41FA5}">
                      <a16:colId xmlns:a16="http://schemas.microsoft.com/office/drawing/2014/main" val="1204892479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4057191641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3229624824"/>
                    </a:ext>
                  </a:extLst>
                </a:gridCol>
                <a:gridCol w="1131905">
                  <a:extLst>
                    <a:ext uri="{9D8B030D-6E8A-4147-A177-3AD203B41FA5}">
                      <a16:colId xmlns:a16="http://schemas.microsoft.com/office/drawing/2014/main" val="3176835231"/>
                    </a:ext>
                  </a:extLst>
                </a:gridCol>
              </a:tblGrid>
              <a:tr h="3335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 err="1">
                          <a:effectLst/>
                        </a:rPr>
                        <a:t>지표명</a:t>
                      </a:r>
                      <a:endParaRPr lang="ko-KR" altLang="en-US" sz="1200" b="1" dirty="0">
                        <a:effectLst/>
                      </a:endParaRPr>
                    </a:p>
                  </a:txBody>
                  <a:tcPr marL="71521" marR="71521" marT="35761" marB="3576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effectLst/>
                        </a:rPr>
                        <a:t>측정 방법</a:t>
                      </a:r>
                    </a:p>
                  </a:txBody>
                  <a:tcPr marL="71521" marR="71521" marT="35761" marB="3576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effectLst/>
                        </a:rPr>
                        <a:t>목표치</a:t>
                      </a:r>
                    </a:p>
                  </a:txBody>
                  <a:tcPr marL="71521" marR="71521" marT="35761" marB="3576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effectLst/>
                        </a:rPr>
                        <a:t>최소 허용치</a:t>
                      </a:r>
                    </a:p>
                  </a:txBody>
                  <a:tcPr marL="71521" marR="71521" marT="35761" marB="3576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166368"/>
                  </a:ext>
                </a:extLst>
              </a:tr>
              <a:tr h="333568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extLst>
                  <a:ext uri="{0D108BD9-81ED-4DB2-BD59-A6C34878D82A}">
                    <a16:rowId xmlns:a16="http://schemas.microsoft.com/office/drawing/2014/main" val="1972521986"/>
                  </a:ext>
                </a:extLst>
              </a:tr>
              <a:tr h="333568"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>
                        <a:effectLst/>
                      </a:endParaRPr>
                    </a:p>
                  </a:txBody>
                  <a:tcPr marL="71521" marR="71521" marT="35761" marB="35761" anchor="ctr"/>
                </a:tc>
                <a:extLst>
                  <a:ext uri="{0D108BD9-81ED-4DB2-BD59-A6C34878D82A}">
                    <a16:rowId xmlns:a16="http://schemas.microsoft.com/office/drawing/2014/main" val="3589614953"/>
                  </a:ext>
                </a:extLst>
              </a:tr>
              <a:tr h="333568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extLst>
                  <a:ext uri="{0D108BD9-81ED-4DB2-BD59-A6C34878D82A}">
                    <a16:rowId xmlns:a16="http://schemas.microsoft.com/office/drawing/2014/main" val="1349957130"/>
                  </a:ext>
                </a:extLst>
              </a:tr>
              <a:tr h="333568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>
                        <a:effectLst/>
                      </a:endParaRPr>
                    </a:p>
                  </a:txBody>
                  <a:tcPr marL="71521" marR="71521" marT="35761" marB="35761" anchor="ctr"/>
                </a:tc>
                <a:extLst>
                  <a:ext uri="{0D108BD9-81ED-4DB2-BD59-A6C34878D82A}">
                    <a16:rowId xmlns:a16="http://schemas.microsoft.com/office/drawing/2014/main" val="3074551741"/>
                  </a:ext>
                </a:extLst>
              </a:tr>
              <a:tr h="333568"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>
                        <a:effectLst/>
                      </a:endParaRPr>
                    </a:p>
                  </a:txBody>
                  <a:tcPr marL="71521" marR="71521" marT="35761" marB="35761" anchor="ctr"/>
                </a:tc>
                <a:extLst>
                  <a:ext uri="{0D108BD9-81ED-4DB2-BD59-A6C34878D82A}">
                    <a16:rowId xmlns:a16="http://schemas.microsoft.com/office/drawing/2014/main" val="2100786639"/>
                  </a:ext>
                </a:extLst>
              </a:tr>
              <a:tr h="333568">
                <a:tc>
                  <a:txBody>
                    <a:bodyPr/>
                    <a:lstStyle/>
                    <a:p>
                      <a:pPr algn="ctr"/>
                      <a:endParaRPr lang="ko-KR" altLang="en-US" sz="120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extLst>
                  <a:ext uri="{0D108BD9-81ED-4DB2-BD59-A6C34878D82A}">
                    <a16:rowId xmlns:a16="http://schemas.microsoft.com/office/drawing/2014/main" val="3212999597"/>
                  </a:ext>
                </a:extLst>
              </a:tr>
              <a:tr h="333568"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extLst>
                  <a:ext uri="{0D108BD9-81ED-4DB2-BD59-A6C34878D82A}">
                    <a16:rowId xmlns:a16="http://schemas.microsoft.com/office/drawing/2014/main" val="198197549"/>
                  </a:ext>
                </a:extLst>
              </a:tr>
              <a:tr h="333568"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extLst>
                  <a:ext uri="{0D108BD9-81ED-4DB2-BD59-A6C34878D82A}">
                    <a16:rowId xmlns:a16="http://schemas.microsoft.com/office/drawing/2014/main" val="1232007926"/>
                  </a:ext>
                </a:extLst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Appendix. </a:t>
            </a:r>
            <a:r>
              <a:rPr lang="ko-KR" altLang="en-US" sz="2400" b="1" dirty="0" err="1"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ㅇㅇㅇ</a:t>
            </a:r>
            <a:endParaRPr lang="ko-KR" altLang="en-US" sz="2400" b="1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63A6ED0-519D-423F-8502-B77DE3958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2488" y="1515793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amsungOneKorean 500C" panose="020B0606030303020204" pitchFamily="50" charset="-127"/>
                <a:ea typeface="SamsungOneKorean 500C" panose="020B0606030303020204" pitchFamily="50" charset="-127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9B15E51-67F7-44DB-B1AD-710E2A696355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7" name="오각형 33">
              <a:extLst>
                <a:ext uri="{FF2B5EF4-FFF2-40B4-BE49-F238E27FC236}">
                  <a16:creationId xmlns:a16="http://schemas.microsoft.com/office/drawing/2014/main" id="{70B50750-215E-4BAC-8F0E-E2B63A824FDA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과제 소개</a:t>
              </a:r>
            </a:p>
          </p:txBody>
        </p:sp>
        <p:sp>
          <p:nvSpPr>
            <p:cNvPr id="19" name="갈매기형 수장 35">
              <a:extLst>
                <a:ext uri="{FF2B5EF4-FFF2-40B4-BE49-F238E27FC236}">
                  <a16:creationId xmlns:a16="http://schemas.microsoft.com/office/drawing/2014/main" id="{266E71C4-74C6-4607-BC7B-898F5303CC13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요구사항</a:t>
              </a:r>
            </a:p>
          </p:txBody>
        </p:sp>
        <p:sp>
          <p:nvSpPr>
            <p:cNvPr id="20" name="갈매기형 수장 36">
              <a:extLst>
                <a:ext uri="{FF2B5EF4-FFF2-40B4-BE49-F238E27FC236}">
                  <a16:creationId xmlns:a16="http://schemas.microsoft.com/office/drawing/2014/main" id="{8ACBF34E-6D8F-48DB-97FC-1F845009550C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설계</a:t>
              </a:r>
            </a:p>
          </p:txBody>
        </p:sp>
        <p:sp>
          <p:nvSpPr>
            <p:cNvPr id="21" name="갈매기형 수장 37">
              <a:extLst>
                <a:ext uri="{FF2B5EF4-FFF2-40B4-BE49-F238E27FC236}">
                  <a16:creationId xmlns:a16="http://schemas.microsoft.com/office/drawing/2014/main" id="{597B3D23-75F3-4660-B695-6DD8F7E893FE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구현</a:t>
              </a:r>
              <a:r>
                <a:rPr lang="en-US" altLang="ko-KR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/</a:t>
              </a:r>
              <a:r>
                <a:rPr lang="ko-KR" altLang="en-US" sz="800" b="1" dirty="0">
                  <a:latin typeface="SamsungOneKorean 500C" panose="020B0606030303020204" pitchFamily="50" charset="-127"/>
                  <a:ea typeface="SamsungOneKorean 500C" panose="020B0606030303020204" pitchFamily="50" charset="-127"/>
                </a:rPr>
                <a:t>검증</a:t>
              </a: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CD04485E-2551-4580-8BEA-F5AB713EB90F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3" name="갈매기형 수장 38">
                <a:extLst>
                  <a:ext uri="{FF2B5EF4-FFF2-40B4-BE49-F238E27FC236}">
                    <a16:creationId xmlns:a16="http://schemas.microsoft.com/office/drawing/2014/main" id="{B742CDDF-52B4-4261-877D-FAC9EB86505C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 500C" panose="020B0606030303020204" pitchFamily="50" charset="-127"/>
                    <a:ea typeface="SamsungOneKorean 500C" panose="020B0606030303020204" pitchFamily="50" charset="-127"/>
                  </a:rPr>
                  <a:t>결론</a:t>
                </a: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40B535D1-03CE-47BE-841F-345AA3BD6ACA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 500C" panose="020B0606030303020204" pitchFamily="50" charset="-127"/>
                  <a:ea typeface="SamsungOneKorean 500C" panose="020B0606030303020204" pitchFamily="50" charset="-127"/>
                </a:endParaRPr>
              </a:p>
            </p:txBody>
          </p:sp>
        </p:grp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3991D86-13A8-43D5-BDD5-B2F6B010EBCE}"/>
              </a:ext>
            </a:extLst>
          </p:cNvPr>
          <p:cNvSpPr/>
          <p:nvPr/>
        </p:nvSpPr>
        <p:spPr>
          <a:xfrm rot="20977912">
            <a:off x="3471148" y="2048350"/>
            <a:ext cx="5383676" cy="26685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  <a:latin typeface="SamsungOneKorean 500C" panose="020B0606030303020204" pitchFamily="50" charset="-127"/>
                <a:ea typeface="SamsungOneKorean 500C" panose="020B0606030303020204" pitchFamily="50" charset="-127"/>
              </a:rPr>
              <a:t>기타 상세 자료 및 근거 자유롭게 추가</a:t>
            </a:r>
            <a:endParaRPr lang="en-US" altLang="ko-KR" dirty="0">
              <a:solidFill>
                <a:schemeClr val="accent5">
                  <a:lumMod val="75000"/>
                </a:schemeClr>
              </a:solidFill>
              <a:latin typeface="SamsungOneKorean 500C" panose="020B0606030303020204" pitchFamily="50" charset="-127"/>
              <a:ea typeface="SamsungOneKorean 500C" panose="020B0606030303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1811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783031D9AD15740B9C902CCF4BB6E7F" ma:contentTypeVersion="0" ma:contentTypeDescription="Create a new document." ma:contentTypeScope="" ma:versionID="accbbc2a9bfd0ffaba73270833c8ef0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24fd2d4348e31d7b7bcc391e9da950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788B864-D635-42B9-BA85-A308EE7587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D463C9D-8F92-46F8-A279-E9DC9708FF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D158BED-C6B9-48F4-8D12-59D419C7C389}">
  <ds:schemaRefs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dcmitype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2211</TotalTime>
  <Words>1154</Words>
  <Application>Microsoft Office PowerPoint</Application>
  <PresentationFormat>와이드스크린</PresentationFormat>
  <Paragraphs>362</Paragraphs>
  <Slides>19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6" baseType="lpstr">
      <vt:lpstr>SamsungOneKorean 500C</vt:lpstr>
      <vt:lpstr>SamsungOneKoreanOTF 400C</vt:lpstr>
      <vt:lpstr>SamsungOneKoreanOTF 700C</vt:lpstr>
      <vt:lpstr>맑은 고딕</vt:lpstr>
      <vt:lpstr>Arial</vt:lpstr>
      <vt:lpstr>Wingdings</vt:lpstr>
      <vt:lpstr>Office 테마</vt:lpstr>
      <vt:lpstr>AI 기반 TV 자동화 테스트 시스템</vt:lpstr>
      <vt:lpstr>목차</vt:lpstr>
      <vt:lpstr>과제 소개</vt:lpstr>
      <vt:lpstr>과제 개요</vt:lpstr>
      <vt:lpstr>기능 요구사항 및 제약사항</vt:lpstr>
      <vt:lpstr>품질 속성</vt:lpstr>
      <vt:lpstr>DP1. 설계 문제 정의</vt:lpstr>
      <vt:lpstr>DP1. 설계안 결정</vt:lpstr>
      <vt:lpstr>DP1. 설계결정 및 근거</vt:lpstr>
      <vt:lpstr>DP2. 설계 문제 정의</vt:lpstr>
      <vt:lpstr>DP2. 설계안 결정</vt:lpstr>
      <vt:lpstr>DP2. 설계결정 및 근거</vt:lpstr>
      <vt:lpstr>최종 Architecture (1/2)</vt:lpstr>
      <vt:lpstr>최종 Architecture (2/2)</vt:lpstr>
      <vt:lpstr>품질속성 검증</vt:lpstr>
      <vt:lpstr>구현</vt:lpstr>
      <vt:lpstr>결론</vt:lpstr>
      <vt:lpstr>Appendix </vt:lpstr>
      <vt:lpstr>Appendix. ㅇㅇㅇ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(AI 기능/품질 요구사항 포함) 과제 제목</dc:title>
  <dc:creator>김우성/S/W개발그룹(생활가전)/삼성전자</dc:creator>
  <cp:lastModifiedBy>정지훈/Application S/W Lab(VD)/삼성전자</cp:lastModifiedBy>
  <cp:revision>148</cp:revision>
  <dcterms:created xsi:type="dcterms:W3CDTF">2026-01-22T05:02:52Z</dcterms:created>
  <dcterms:modified xsi:type="dcterms:W3CDTF">2026-05-28T07:28:21Z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FLCMData">
    <vt:lpwstr>34FF9579FF2A799047CD27EFE3896CB3018C9816FCFCEA8FB1557415E77DF4B310F6A7C0AF26D5203E5F4FD6D0CF59D0E457769323A4028C6F988DB043FAAE38</vt:lpwstr>
  </property>
  <property fmtid="{D5CDD505-2E9C-101B-9397-08002B2CF9AE}" pid="4" name="ContentTypeId">
    <vt:lpwstr>0x0101002783031D9AD15740B9C902CCF4BB6E7F</vt:lpwstr>
  </property>
</Properties>
</file>