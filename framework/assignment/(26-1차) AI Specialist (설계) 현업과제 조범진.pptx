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95" r:id="rId6"/>
    <p:sldId id="259" r:id="rId7"/>
    <p:sldId id="260" r:id="rId8"/>
    <p:sldId id="261" r:id="rId9"/>
    <p:sldId id="262" r:id="rId10"/>
    <p:sldId id="265" r:id="rId11"/>
    <p:sldId id="266" r:id="rId12"/>
    <p:sldId id="297" r:id="rId13"/>
    <p:sldId id="300" r:id="rId14"/>
    <p:sldId id="290" r:id="rId15"/>
    <p:sldId id="299" r:id="rId16"/>
    <p:sldId id="288" r:id="rId17"/>
    <p:sldId id="292" r:id="rId18"/>
    <p:sldId id="268" r:id="rId19"/>
    <p:sldId id="269" r:id="rId20"/>
    <p:sldId id="296" r:id="rId21"/>
    <p:sldId id="271" r:id="rId22"/>
    <p:sldId id="27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과제계획서" id="{37F76FF6-4D84-4600-95AA-DDDC590B9DE5}">
          <p14:sldIdLst>
            <p14:sldId id="257"/>
            <p14:sldId id="295"/>
            <p14:sldId id="259"/>
            <p14:sldId id="260"/>
          </p14:sldIdLst>
        </p14:section>
        <p14:section name="2. 중간보고" id="{A601592A-F38A-4CD8-B977-3648669BA917}">
          <p14:sldIdLst>
            <p14:sldId id="261"/>
            <p14:sldId id="262"/>
          </p14:sldIdLst>
        </p14:section>
        <p14:section name="3. 최종보고" id="{01993820-4598-4128-A3D2-939FA032654F}">
          <p14:sldIdLst>
            <p14:sldId id="265"/>
            <p14:sldId id="266"/>
            <p14:sldId id="297"/>
            <p14:sldId id="300"/>
            <p14:sldId id="290"/>
            <p14:sldId id="299"/>
            <p14:sldId id="288"/>
            <p14:sldId id="292"/>
            <p14:sldId id="268"/>
            <p14:sldId id="269"/>
            <p14:sldId id="296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61253-6CA1-40D7-9EA9-1F6EBC511C5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CA7B-468F-49DD-BEC4-E1CB5442C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9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5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5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0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70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741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342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56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86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2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64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41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19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340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59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597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1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B7DF-2760-4F1E-B05A-1183B2BADEF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03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9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4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2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6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94656-37DE-4017-8F2F-592F9AD33844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50703-BC62-4247-8CBE-376D8EBC50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1D7A8F6-B678-4C3B-B207-3B00C868D3DA}"/>
              </a:ext>
            </a:extLst>
          </p:cNvPr>
          <p:cNvSpPr/>
          <p:nvPr/>
        </p:nvSpPr>
        <p:spPr>
          <a:xfrm>
            <a:off x="0" y="1464907"/>
            <a:ext cx="12192000" cy="2351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8258" y="1464907"/>
            <a:ext cx="11878235" cy="2351314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사용 패턴 기반 </a:t>
            </a:r>
            <a:r>
              <a:rPr lang="en-US" altLang="ko-KR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SmartThings AI </a:t>
            </a:r>
            <a:r>
              <a:rPr lang="ko-KR" altLang="en-US" sz="4000" b="1" dirty="0">
                <a:solidFill>
                  <a:schemeClr val="bg1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상황 인식 서비스 설계</a:t>
            </a:r>
            <a:r>
              <a:rPr lang="en-US" altLang="ko-KR" sz="1800" dirty="0">
                <a:solidFill>
                  <a:schemeClr val="bg1"/>
                </a:solidFill>
                <a:latin typeface="Malgun Gothic" panose="020B0503020000020004" pitchFamily="50" charset="-127"/>
              </a:rPr>
              <a:t>SmartThings Raw Data, SQLite, Vector DB, Gauss Chat API</a:t>
            </a:r>
            <a:r>
              <a:rPr lang="ko-KR" altLang="en-US" sz="1800" dirty="0">
                <a:solidFill>
                  <a:schemeClr val="bg1"/>
                </a:solidFill>
                <a:latin typeface="Malgun Gothic" panose="020B0503020000020004" pitchFamily="50" charset="-127"/>
              </a:rPr>
              <a:t>를 결합한 </a:t>
            </a:r>
            <a:r>
              <a:rPr lang="en-US" altLang="ko-KR" sz="1800" dirty="0">
                <a:solidFill>
                  <a:schemeClr val="bg1"/>
                </a:solidFill>
                <a:latin typeface="Malgun Gothic" panose="020B0503020000020004" pitchFamily="50" charset="-127"/>
              </a:rPr>
              <a:t>Home Insight POC</a:t>
            </a:r>
            <a:br>
              <a:rPr lang="ko-KR" altLang="en-US" sz="1800" dirty="0">
                <a:solidFill>
                  <a:schemeClr val="bg1"/>
                </a:solidFill>
                <a:latin typeface="Malgun Gothic" panose="020B0503020000020004" pitchFamily="50" charset="-127"/>
              </a:rPr>
            </a:br>
            <a:endParaRPr lang="ko-KR" altLang="en-US" sz="4000" b="1" dirty="0">
              <a:solidFill>
                <a:schemeClr val="bg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0" y="5162295"/>
            <a:ext cx="527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AI Platform Center</a:t>
            </a:r>
            <a:r>
              <a:rPr lang="ko-KR" altLang="en-US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</a:t>
            </a:r>
            <a:r>
              <a:rPr lang="en-US" altLang="ko-KR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/ SmartThings </a:t>
            </a:r>
            <a:r>
              <a:rPr lang="ko-KR" altLang="en-US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개발 그룹</a:t>
            </a:r>
            <a:endParaRPr lang="en-US" altLang="ko-KR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  <a:p>
            <a:pPr algn="r"/>
            <a:r>
              <a:rPr lang="ko-KR" altLang="en-US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조범진</a:t>
            </a:r>
            <a:endParaRPr lang="ko-KR" altLang="en-US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327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8300" y="-1996"/>
            <a:ext cx="10209935" cy="522939"/>
          </a:xfrm>
        </p:spPr>
        <p:txBody>
          <a:bodyPr>
            <a:normAutofit/>
          </a:bodyPr>
          <a:lstStyle/>
          <a:p>
            <a:r>
              <a:rPr lang="ko-KR" altLang="en-US" sz="240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목차</a:t>
            </a:r>
            <a:endParaRPr lang="ko-KR" altLang="en-US" sz="2400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0336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0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228" y="800905"/>
            <a:ext cx="2699640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01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계획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배경 필요성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228" y="2297110"/>
            <a:ext cx="4338921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02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요구사항 분석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 및 제약사항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 요구사항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228" y="3793315"/>
            <a:ext cx="3271489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03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설계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Architectural Decision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최종 </a:t>
            </a:r>
            <a:r>
              <a:rPr lang="en-US" altLang="ko-KR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Architecture</a:t>
            </a:r>
            <a:endParaRPr lang="ko-KR" altLang="en-US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228" y="5289520"/>
            <a:ext cx="2518665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1F497D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04</a:t>
            </a:r>
            <a:r>
              <a:rPr lang="en-US" altLang="ko-KR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. </a:t>
            </a:r>
            <a:r>
              <a:rPr lang="ko-KR" altLang="en-US" sz="20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 및 검증</a:t>
            </a:r>
            <a:endParaRPr lang="en-US" altLang="ko-KR" sz="20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구현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품질속성 검증</a:t>
            </a:r>
            <a:endParaRPr lang="en-US" altLang="ko-KR" sz="16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7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소개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1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96154" y="1069147"/>
            <a:ext cx="10422998" cy="4846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배경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SmartThings Windows</a:t>
            </a:r>
            <a:r>
              <a:rPr lang="ko-KR" altLang="en-US" sz="1400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앱은 기기 목록 확인과 직접 제어 중심으로 제공된다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사용자의 생활 맥락을 읽어 선제적으로 알려주는 경험은 제한적이다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과제 필요성</a:t>
            </a:r>
            <a:endParaRPr lang="en-US" altLang="ko-KR" sz="1600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가정 내 상태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루틴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이상 징후를 한 화면에서 이해할 수 있는 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Home Insight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가 필요하다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.</a:t>
            </a:r>
            <a:endParaRPr lang="en-US" altLang="ko-KR" sz="1400" dirty="0">
              <a:ea typeface="SamsungOneKoreanOTF 400C" panose="020B0506030303020204" pitchFamily="34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설명 가능한 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응답과 즉시 실행 가능한 제안이 결합되어야 실제 사용 가치가 높다</a:t>
            </a:r>
            <a:r>
              <a:rPr lang="en-US" altLang="ko-KR" sz="1400" dirty="0">
                <a:solidFill>
                  <a:srgbClr val="222222"/>
                </a:solidFill>
                <a:latin typeface="Malgun Gothic" panose="020B0503020000020004" pitchFamily="50" charset="-127"/>
              </a:rPr>
              <a:t>.</a:t>
            </a:r>
            <a:endParaRPr lang="en-US" altLang="ko-KR" sz="1400" dirty="0"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 과제 목표 및 가치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사용 패턴과 현재 홈 상태를 결합하여 상황 인식</a:t>
            </a:r>
            <a:r>
              <a:rPr lang="en-US" altLang="ko-KR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행동 예측</a:t>
            </a:r>
            <a:r>
              <a:rPr lang="en-US" altLang="ko-KR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이상 감지</a:t>
            </a:r>
            <a:r>
              <a:rPr lang="en-US" altLang="ko-KR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개인화 추천을 제공하는 </a:t>
            </a:r>
            <a:r>
              <a:rPr lang="en-US" altLang="ko-KR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SmartThings AI Home Insight </a:t>
            </a:r>
            <a:r>
              <a:rPr lang="ko-KR" altLang="en-US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서비스를 설계한다</a:t>
            </a:r>
            <a:r>
              <a:rPr lang="en-US" altLang="ko-KR" sz="1400" b="1" dirty="0">
                <a:solidFill>
                  <a:srgbClr val="1F3C2A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 b="1" dirty="0">
              <a:solidFill>
                <a:srgbClr val="1F3C2A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64" name="오각형 33">
              <a:extLst>
                <a:ext uri="{FF2B5EF4-FFF2-40B4-BE49-F238E27FC236}">
                  <a16:creationId xmlns:a16="http://schemas.microsoft.com/office/drawing/2014/main" id="{A92FF41F-A983-40E8-82B4-348384978BC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65" name="갈매기형 수장 35">
              <a:extLst>
                <a:ext uri="{FF2B5EF4-FFF2-40B4-BE49-F238E27FC236}">
                  <a16:creationId xmlns:a16="http://schemas.microsoft.com/office/drawing/2014/main" id="{35649FE5-0EE5-4EB7-BF1E-C3CE0178468A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68" name="갈매기형 수장 36">
              <a:extLst>
                <a:ext uri="{FF2B5EF4-FFF2-40B4-BE49-F238E27FC236}">
                  <a16:creationId xmlns:a16="http://schemas.microsoft.com/office/drawing/2014/main" id="{609A7397-24BF-4223-850E-6EB288F45E65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69" name="갈매기형 수장 37">
              <a:extLst>
                <a:ext uri="{FF2B5EF4-FFF2-40B4-BE49-F238E27FC236}">
                  <a16:creationId xmlns:a16="http://schemas.microsoft.com/office/drawing/2014/main" id="{3599400D-4952-42AA-BC19-18FC421AFA3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CC6B17F-3EDA-4358-9C37-450D2F9694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72" name="갈매기형 수장 38">
                <a:extLst>
                  <a:ext uri="{FF2B5EF4-FFF2-40B4-BE49-F238E27FC236}">
                    <a16:creationId xmlns:a16="http://schemas.microsoft.com/office/drawing/2014/main" id="{AD8C0DD4-C00C-4A6D-B307-31E76B8C746D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5E710D71-57AC-413E-A92B-57FDCEAEBD97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2315E28-F969-4FAC-AD94-FAA840DB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434" y="793558"/>
            <a:ext cx="4208206" cy="263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6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과제 개요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1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56948"/>
              </p:ext>
            </p:extLst>
          </p:nvPr>
        </p:nvGraphicFramePr>
        <p:xfrm>
          <a:off x="596153" y="605795"/>
          <a:ext cx="11246540" cy="61007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3253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133287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</a:tblGrid>
              <a:tr h="11068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사용 패턴 기반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SmartThings AI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상황 인식 서비스 설계</a:t>
                      </a:r>
                      <a:endParaRPr lang="en-US" altLang="ko-KR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- SmartThings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서버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/API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데이터를 기반으로 집 안의 루틴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이상 징후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추천 액션을 생성하는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Home Insight POC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1622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과제상세</a:t>
                      </a:r>
                      <a:endParaRPr lang="en-US" altLang="ko-KR" sz="12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(Work to do)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과제수행을 통해 달성하고자 하는 목표 수준</a:t>
                      </a:r>
                      <a:endParaRPr lang="en-US" altLang="ko-KR" sz="1200" b="1" kern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사용자가 첫 화면에서 홈 상태와 추천 액션을 이해할 수 있는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UI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프로토타입 설계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POC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시나리오 중 최소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개 이상을 데이터 기반으로 재현 가능한 수준 확보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endParaRPr lang="ko-KR" altLang="en-US" sz="12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  <a:p>
                      <a:r>
                        <a:rPr lang="ko-KR" altLang="en-US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목표 달성을 위한 연구방안</a:t>
                      </a:r>
                      <a:b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- SmartThings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서버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/API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데이터를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SQLite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에 저장하고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, Rule-based Grouping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으로 생활 패턴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Chunk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를 생성한 뒤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ChromaDB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검색 결과와 현재 상황을 결합해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Gauss Chat API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가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Home Insight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응답을 생성한다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생성된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AI Insight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는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Home Map,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상태 카드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, Nudge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버튼 중심의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UI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로 제공하여 사용자가 집 상태와 필요한 행동을 한눈에 이해하도록 한다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.</a:t>
                      </a:r>
                    </a:p>
                    <a:p>
                      <a:endParaRPr lang="en-US" altLang="ko-KR" sz="12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  <a:p>
                      <a:r>
                        <a:rPr lang="ko-KR" altLang="en-US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목표 달성을 측정하기 위한 구체적인 </a:t>
                      </a:r>
                      <a:r>
                        <a:rPr lang="en-US" altLang="ko-KR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metric</a:t>
                      </a:r>
                      <a:br>
                        <a:rPr lang="en-US" altLang="ko-KR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lang="en-US" altLang="ko-KR" sz="1200" b="1" kern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추천 유효성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사용자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평가자 기준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Useful 80%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이상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UX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이해도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첫 화면에서 핵심 상황 이해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초 이하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POC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완성도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: 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개 핵심 시나리오 중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개 이상 재현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1454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성과 및 기대효과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과제수행을 통해 예상되는 기술 수준 향상도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SmartThings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데이터를 상황 인식형 데이터 구조로 재설계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SQLite, Vector DB, RAG, LLM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을 결합한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서비스 아키텍처 확보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사업 성과 측면의 기대효과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SmartThings Windows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앱을 단순 제어 앱에서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AI Home Insight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진입점으로 확장</a:t>
                      </a:r>
                      <a:b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 - Energy,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AirCare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, Find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등 개별 서비스 데이터를 통합된 사용자 가치로 전환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91703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3680D883-E77A-4D75-A96B-2E7CE3B5CA32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34EB277E-ABDE-4C11-B9D5-2317C78DEAFD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rgbClr val="3CAD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AB7FB9F4-3859-4585-A612-3E70D948D6E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2761F454-9DAB-4B7A-AD34-2DDB048D1F7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3E91D828-EC90-49FA-8191-E0AA29CA04D1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923D846-23F1-493F-877C-0FD25383A86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35FD2ABC-420F-4D54-95AA-F79E7BE50573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366E2AA-90B1-490E-85AB-9745A9C75724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5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기능 요구사항 및 제약사항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5530" y="651046"/>
            <a:ext cx="7302550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기능 요구사항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704495"/>
              </p:ext>
            </p:extLst>
          </p:nvPr>
        </p:nvGraphicFramePr>
        <p:xfrm>
          <a:off x="420016" y="1182858"/>
          <a:ext cx="11297502" cy="311045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619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90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FR1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홈 현재 상황 생성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SQLite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의 최신 기기 상태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위치 모드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서비스 데이터를 결합해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Current Context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스냅샷을 생성한다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FR2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사용 패턴 기반 상황 인식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Rule-based Grouping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으로 귀가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취침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에너지 이상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공기질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알림 등 생활 패턴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Chunk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를 생성한다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FR3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RAG </a:t>
                      </a: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기반 </a:t>
                      </a:r>
                      <a:r>
                        <a:rPr lang="en-US" altLang="ko-KR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AI Insight </a:t>
                      </a: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ChromaDB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에서 유사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Chunk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를 검색하고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Current Context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와 결합해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Gauss Chat API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응답을 생성한다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FR4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설명 가능한 </a:t>
                      </a:r>
                      <a:r>
                        <a:rPr lang="en-US" altLang="ko-KR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Nudge </a:t>
                      </a: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제공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응답은 근거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신뢰도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추천 액션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사용자가 실행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무시할 수 있는 선택지를 포함한다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94202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FR5</a:t>
                      </a:r>
                      <a:endParaRPr lang="ko-KR" altLang="en-US" sz="12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시나리오별 </a:t>
                      </a:r>
                      <a:r>
                        <a:rPr lang="en-US" altLang="ko-KR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POC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핵심 시나리오를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Home Map,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상태 카드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Nudge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버튼 중심으로 </a:t>
                      </a:r>
                      <a:r>
                        <a:rPr lang="ko-KR" altLang="en-US" sz="12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시각화한다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944597"/>
                  </a:ext>
                </a:extLst>
              </a:tr>
              <a:tr h="4443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FR6</a:t>
                      </a:r>
                      <a:endParaRPr lang="ko-KR" altLang="en-US" sz="12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응답 검증 및 </a:t>
                      </a:r>
                      <a:r>
                        <a:rPr lang="en-US" altLang="ko-KR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Fallback</a:t>
                      </a:r>
                      <a:endParaRPr lang="ko-KR" altLang="en-US" sz="1200" b="1" dirty="0">
                        <a:solidFill>
                          <a:srgbClr val="1A1A1A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LLM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응답이 스키마를 벗어나거나 근거가 부족하면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Rule-based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결과 또는 안전 문구로 대체한다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67574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5530" y="4466770"/>
            <a:ext cx="1229824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제약사항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291962"/>
              </p:ext>
            </p:extLst>
          </p:nvPr>
        </p:nvGraphicFramePr>
        <p:xfrm>
          <a:off x="420016" y="5037498"/>
          <a:ext cx="11297502" cy="133618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25980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2703976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7467546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</a:tblGrid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TITLE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Description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C01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개인정보 및 민감정보 보호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LLM Prompt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에는 사용자 식별 정보와 원문 민감 데이터를 직접 전달하지 않고 </a:t>
                      </a:r>
                      <a:r>
                        <a:rPr lang="ko-KR" altLang="en-US" sz="12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비식별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 요약 컨텍스트만 사용한다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421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C02</a:t>
                      </a:r>
                      <a:endParaRPr lang="ko-KR" altLang="en-US" sz="120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A1A1A"/>
                          </a:solidFill>
                          <a:latin typeface="Malgun Gothic" panose="020B0503020000020004" pitchFamily="50" charset="-127"/>
                        </a:rPr>
                        <a:t>성능 및 장애 대응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POC UI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는 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초 내 주요 상태를 표시하고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Vector DB/LLM </a:t>
                      </a: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장애 시에도 기본 상태와 규칙 기반 메시지를 제공한다</a:t>
                      </a:r>
                      <a:r>
                        <a:rPr lang="en-US" altLang="ko-KR" sz="12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2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2B1DE469-99F2-4A69-9F39-936BEA540F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34" name="오각형 33">
              <a:extLst>
                <a:ext uri="{FF2B5EF4-FFF2-40B4-BE49-F238E27FC236}">
                  <a16:creationId xmlns:a16="http://schemas.microsoft.com/office/drawing/2014/main" id="{E7575604-67D9-42B6-BB77-F115D8A276B0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35" name="갈매기형 수장 35">
              <a:extLst>
                <a:ext uri="{FF2B5EF4-FFF2-40B4-BE49-F238E27FC236}">
                  <a16:creationId xmlns:a16="http://schemas.microsoft.com/office/drawing/2014/main" id="{97C02E5D-9785-4EDB-91E8-A6AAAAFA624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36" name="갈매기형 수장 36">
              <a:extLst>
                <a:ext uri="{FF2B5EF4-FFF2-40B4-BE49-F238E27FC236}">
                  <a16:creationId xmlns:a16="http://schemas.microsoft.com/office/drawing/2014/main" id="{30512639-19D9-4026-AF79-352914F07D4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37" name="갈매기형 수장 37">
              <a:extLst>
                <a:ext uri="{FF2B5EF4-FFF2-40B4-BE49-F238E27FC236}">
                  <a16:creationId xmlns:a16="http://schemas.microsoft.com/office/drawing/2014/main" id="{08512BE3-25B2-4C56-AB50-8C7F6C3693E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82E44F0-5E30-4D11-AE5A-762E3C8F683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39" name="갈매기형 수장 38">
                <a:extLst>
                  <a:ext uri="{FF2B5EF4-FFF2-40B4-BE49-F238E27FC236}">
                    <a16:creationId xmlns:a16="http://schemas.microsoft.com/office/drawing/2014/main" id="{ED5897E3-96B9-4596-931D-C9DFCA7CFD9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F79C36C-B19B-45BD-A7E3-2BE1FE49363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16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 속성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90" y="528918"/>
            <a:ext cx="86841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QAW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및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Utility Tree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를 통한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ASR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선정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(AI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관련 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QA </a:t>
            </a:r>
            <a:r>
              <a:rPr lang="ko-KR" altLang="en-US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반드시 포함</a:t>
            </a:r>
            <a:r>
              <a:rPr lang="en-US" altLang="ko-KR" b="1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lang="ko-KR" altLang="en-US" b="1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818261"/>
              </p:ext>
            </p:extLst>
          </p:nvPr>
        </p:nvGraphicFramePr>
        <p:xfrm>
          <a:off x="663199" y="1249724"/>
          <a:ext cx="10882252" cy="4004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2531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1080139">
                  <a:extLst>
                    <a:ext uri="{9D8B030D-6E8A-4147-A177-3AD203B41FA5}">
                      <a16:colId xmlns:a16="http://schemas.microsoft.com/office/drawing/2014/main" val="1443113069"/>
                    </a:ext>
                  </a:extLst>
                </a:gridCol>
                <a:gridCol w="2762573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5029517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688746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688746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286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중요도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난이도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6984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기능정확성</a:t>
                      </a: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(AI)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가 생성한 상황 판단과 추천이 실제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Raw Data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및 정의된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Ground Truth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와 일치해야 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귀가 루틴에서 에어컨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조명 선행 동작을 올바르게 추천한다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  <a:endParaRPr lang="en-US" altLang="ko-KR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6167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설명용이성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(AI)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응답은 어떤 데이터와 패턴을 근거로 생성되었는지 사용자가 이해할 수 있어야 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에너지 이상 판단 시 평소 대비 사용량 증가와 관련 기기를 표시한다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  <a:endParaRPr lang="en-US" altLang="ko-KR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2560"/>
                  </a:ext>
                </a:extLst>
              </a:tr>
              <a:tr h="6267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제어가능성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(AI)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사용자는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추천을 실행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무시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상세 확인할 수 있어야 하며 자동 실행은 제한한다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귀가 예측 후 에어컨 켜기 버튼을 사용자가 직접 선택한다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67904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1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프라이버시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(AI)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개인 위치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사용자 식별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원문 로그 등 민감 정보는 최소화되어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에 전달되어야 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Find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데이터는 거리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도착 예상 시간으로만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추상화한다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5565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강건성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(AI)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Malgun Gothic" panose="020B0503020000020004" pitchFamily="50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LLM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Vector DB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오류가 발생해도 사용자는 기본 상태와 안전한 대체 응답을 볼 수 있어야 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ChromaDB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검색 실패 시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Current Context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기반 기본 카드로 대체한다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522230"/>
                  </a:ext>
                </a:extLst>
              </a:tr>
              <a:tr h="5401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Malgun Gothic" panose="020B0503020000020004" pitchFamily="50" charset="-127"/>
                          <a:ea typeface="SamsungOneKoreanOTF 400C" panose="020B0506030303020204" pitchFamily="34" charset="-127"/>
                          <a:cs typeface="+mn-cs"/>
                        </a:rPr>
                        <a:t>수행효율성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사용자가 화면 진입 후 핵심 상태를 짧은 시간 안에 이해할 수 있어야 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Home Insight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첫 화면에서 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초 이내 상태와 추천 액션을 파악한다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 panose="020B0503020000020004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567052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CA5531-B40E-486D-846F-5695C7F4268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0D018DC1-F28B-496E-9865-2468793BBE4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914959C8-18EC-46AC-A3A9-B0532E08828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9" name="갈매기형 수장 36">
              <a:extLst>
                <a:ext uri="{FF2B5EF4-FFF2-40B4-BE49-F238E27FC236}">
                  <a16:creationId xmlns:a16="http://schemas.microsoft.com/office/drawing/2014/main" id="{E595E885-0E7D-4C8B-B057-F41963D2540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0" name="갈매기형 수장 37">
              <a:extLst>
                <a:ext uri="{FF2B5EF4-FFF2-40B4-BE49-F238E27FC236}">
                  <a16:creationId xmlns:a16="http://schemas.microsoft.com/office/drawing/2014/main" id="{EB9F7889-5C33-4829-A578-3EC6B1E22A9B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26B7B0D-00B2-43D4-8716-52D6909FC7E7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2" name="갈매기형 수장 38">
                <a:extLst>
                  <a:ext uri="{FF2B5EF4-FFF2-40B4-BE49-F238E27FC236}">
                    <a16:creationId xmlns:a16="http://schemas.microsoft.com/office/drawing/2014/main" id="{A819D0D3-6757-4B42-B2F1-5C4E7DE2C725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C781014-2D0A-40DA-8F30-BFA61390BE5B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006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3424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7924E8-DCED-4E83-BE91-B43625B3E579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DP 2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개 이상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도출된 품질속성 중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건 이상 비교 필수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66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91731"/>
              </p:ext>
            </p:extLst>
          </p:nvPr>
        </p:nvGraphicFramePr>
        <p:xfrm>
          <a:off x="748397" y="847255"/>
          <a:ext cx="10963777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393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5128692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F5A31D4-A3B3-45FD-8705-E993532CAC87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405A9B6F-AAC0-42B7-B434-43ACC0F7F494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618A5C00-0CBD-4C00-BC6D-587EB816A24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34ADA9E2-349E-4A07-90B3-8794BAD18026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DD254E28-1D06-4B60-AE37-190EA10FA1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D1CFE8A-18BB-4441-94CE-17089FB35458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2445F759-8F5D-4D0C-B6AB-154DD451C502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513E7AA-4B9F-4FDA-8CD0-98FF1F12A776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F5BAA7-7524-4BD6-98D9-6FEB7B74344E}"/>
              </a:ext>
            </a:extLst>
          </p:cNvPr>
          <p:cNvSpPr/>
          <p:nvPr/>
        </p:nvSpPr>
        <p:spPr>
          <a:xfrm>
            <a:off x="1453770" y="847255"/>
            <a:ext cx="5124011" cy="573354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3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DP1.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4878E5-D967-438B-B54C-803DDF31D361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9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 문제 정의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B697D-C102-4939-856E-DA48FBA1F838}"/>
              </a:ext>
            </a:extLst>
          </p:cNvPr>
          <p:cNvSpPr txBox="1"/>
          <p:nvPr/>
        </p:nvSpPr>
        <p:spPr>
          <a:xfrm>
            <a:off x="596153" y="857637"/>
            <a:ext cx="10985646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배경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ko-KR" altLang="en-US" sz="1200" dirty="0"/>
          </a:p>
          <a:p>
            <a:pPr>
              <a:lnSpc>
                <a:spcPct val="200000"/>
              </a:lnSpc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문제점</a:t>
            </a:r>
            <a:endParaRPr lang="en-US" altLang="ko-KR" sz="1600" b="1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 err="1"/>
              <a:t>ㅇㅇㅇㅇ</a:t>
            </a:r>
            <a:endParaRPr lang="en-US" altLang="ko-KR" sz="1400" b="1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D95BDB-D048-490D-8A33-487DC6BC925B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C2C3F738-21AE-4CA6-ABD3-E89A4014745F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E8710B0C-4B56-4828-A445-7EFAD02EE562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651FB14D-88D0-4E20-8AF6-919D1E63BE12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13F8088E-93ED-4B72-9015-C46467BA503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EB1EBAE-8844-48D9-A501-002F76DE8AE1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7C3FE47-9CF4-4377-B86A-B09DEC7F476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87D2794-B483-4893-9B78-42B199A7DE0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576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976379"/>
              </p:ext>
            </p:extLst>
          </p:nvPr>
        </p:nvGraphicFramePr>
        <p:xfrm>
          <a:off x="524435" y="820350"/>
          <a:ext cx="10924226" cy="564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190">
                  <a:extLst>
                    <a:ext uri="{9D8B030D-6E8A-4147-A177-3AD203B41FA5}">
                      <a16:colId xmlns:a16="http://schemas.microsoft.com/office/drawing/2014/main" val="186050741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1112934244"/>
                    </a:ext>
                  </a:extLst>
                </a:gridCol>
                <a:gridCol w="4989018">
                  <a:extLst>
                    <a:ext uri="{9D8B030D-6E8A-4147-A177-3AD203B41FA5}">
                      <a16:colId xmlns:a16="http://schemas.microsoft.com/office/drawing/2014/main" val="2709743984"/>
                    </a:ext>
                  </a:extLst>
                </a:gridCol>
              </a:tblGrid>
              <a:tr h="27631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(1</a:t>
                      </a: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(2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)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ㅇㅇㅇㅇ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97432"/>
                  </a:ext>
                </a:extLst>
              </a:tr>
              <a:tr h="3628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구조</a:t>
                      </a:r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en-US" altLang="ko-KR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  <a:p>
                      <a:pPr algn="ctr" latinLnBrk="1"/>
                      <a:endParaRPr lang="ko-KR" altLang="en-US" sz="10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55606"/>
                  </a:ext>
                </a:extLst>
              </a:tr>
              <a:tr h="519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07908"/>
                  </a:ext>
                </a:extLst>
              </a:tr>
              <a:tr h="48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03641"/>
                  </a:ext>
                </a:extLst>
              </a:tr>
              <a:tr h="734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Trade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Off</a:t>
                      </a:r>
                    </a:p>
                    <a:p>
                      <a:pPr algn="ctr" latinLnBrk="1"/>
                      <a:endParaRPr lang="en-US" altLang="ko-KR" sz="10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8247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설계안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 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1064C80-133C-411E-94A4-C7BF0C88A8B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8" name="오각형 33">
              <a:extLst>
                <a:ext uri="{FF2B5EF4-FFF2-40B4-BE49-F238E27FC236}">
                  <a16:creationId xmlns:a16="http://schemas.microsoft.com/office/drawing/2014/main" id="{6845291F-1E6B-452F-A335-7DCDFF9130DC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A38C673-6C16-47D3-8FA9-2C2E762AA405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491FE1BF-74BA-421E-867B-E039F2E86847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74CF41C6-E234-4A8D-A827-BFF2465FB36D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F72058F-405C-4BD2-B5FC-C6C0A910A2C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E541D121-DD11-401A-86F6-30F17EE922A4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3374E88-6777-4ACB-9848-7D9D282A246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558B43-DAE9-4697-917D-932F8CA89A17}"/>
              </a:ext>
            </a:extLst>
          </p:cNvPr>
          <p:cNvSpPr/>
          <p:nvPr/>
        </p:nvSpPr>
        <p:spPr>
          <a:xfrm>
            <a:off x="1453771" y="838827"/>
            <a:ext cx="5006024" cy="564622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55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DP2. </a:t>
            </a:r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설계결정 및 근거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CF92-BC50-45DA-BBE4-8CA768C8FB59}"/>
              </a:ext>
            </a:extLst>
          </p:cNvPr>
          <p:cNvSpPr txBox="1"/>
          <p:nvPr/>
        </p:nvSpPr>
        <p:spPr>
          <a:xfrm>
            <a:off x="596153" y="1021977"/>
            <a:ext cx="10985646" cy="439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최종 채택 구조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ㅇㅇㅇㅇㅇ</a:t>
            </a:r>
            <a:r>
              <a:rPr lang="ko-KR" altLang="en-US" sz="1400" dirty="0"/>
              <a:t> 채택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채택 근거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dirty="0"/>
              <a:t>보완 계획</a:t>
            </a:r>
            <a:endParaRPr lang="en-US" altLang="ko-KR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ㅇㅇㅇㅇ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8F8EEA-6DC9-40B0-B7D4-8A0DA68FB413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E6846BAE-2A78-4464-8C1D-D4C1B162DBB6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AE62D383-E1C2-4E54-98BA-B2D0BA62BD1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AC5F62C-168A-4F93-B451-FB24BD69B8DE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9E1FAF6-B7DB-4B68-81FE-7BB30F24E860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49248A-B5F0-4DC6-B99E-32B5C141FD0C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B93AE81D-553E-40E1-8EFE-6FB53E05F080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585A663-A6A2-4349-AB84-10EE41F66683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89728A-ED59-497A-903B-F8A4C8EC1247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설계 결정 및 근거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8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(1/2)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1356EE-1076-47F8-8117-D9F9CD24DF68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F2C333AB-8302-4F1E-9EC6-A01CA6D96011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C328CCBF-3BFE-4A5D-ADA3-87B478663DB4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8ECD430F-891D-4147-8592-B100E3A28D5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7B11BF6A-417C-4266-B244-2732F029F274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B3834C9-D0D2-4FC3-9709-C714C323F015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C8B63D2B-646C-43D8-AD70-FDB790A52ADF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23B019E-23C7-4C52-A751-81739D12C00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A1C60F-A19B-4612-A368-60E58571D686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5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최종 </a:t>
            </a:r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Architecture (2/2)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3</a:t>
            </a:r>
            <a:endParaRPr lang="ko-KR" altLang="en-US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C812D7-D514-431B-98FF-659F779F921A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5" name="오각형 33">
              <a:extLst>
                <a:ext uri="{FF2B5EF4-FFF2-40B4-BE49-F238E27FC236}">
                  <a16:creationId xmlns:a16="http://schemas.microsoft.com/office/drawing/2014/main" id="{BEF4799B-C84A-4632-9119-FFD16004E795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6" name="갈매기형 수장 35">
              <a:extLst>
                <a:ext uri="{FF2B5EF4-FFF2-40B4-BE49-F238E27FC236}">
                  <a16:creationId xmlns:a16="http://schemas.microsoft.com/office/drawing/2014/main" id="{06478DA8-BAC8-4CAB-BB00-FFD2C3ACE309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7" name="갈매기형 수장 36">
              <a:extLst>
                <a:ext uri="{FF2B5EF4-FFF2-40B4-BE49-F238E27FC236}">
                  <a16:creationId xmlns:a16="http://schemas.microsoft.com/office/drawing/2014/main" id="{E61592E6-6FD3-4067-B583-BE7E8B9DE4CD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8" name="갈매기형 수장 37">
              <a:extLst>
                <a:ext uri="{FF2B5EF4-FFF2-40B4-BE49-F238E27FC236}">
                  <a16:creationId xmlns:a16="http://schemas.microsoft.com/office/drawing/2014/main" id="{97D6E17C-507B-43FB-AD7C-6B798427A3EF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48B2554-4628-4371-A032-B14AD0CFDBD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0" name="갈매기형 수장 38">
                <a:extLst>
                  <a:ext uri="{FF2B5EF4-FFF2-40B4-BE49-F238E27FC236}">
                    <a16:creationId xmlns:a16="http://schemas.microsoft.com/office/drawing/2014/main" id="{D19DA8E5-C597-4D61-B3D2-496CA117FE81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C8F4275-34F4-48C6-AFD6-7998CF0CE31C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201AEA-373D-4D6A-8D8F-E7E45125EAF3}"/>
              </a:ext>
            </a:extLst>
          </p:cNvPr>
          <p:cNvSpPr/>
          <p:nvPr/>
        </p:nvSpPr>
        <p:spPr>
          <a:xfrm rot="20977912">
            <a:off x="3178764" y="2800260"/>
            <a:ext cx="3949951" cy="1728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주요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아키텍쳐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구조 명세 작성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857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품질속성 검증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04871"/>
              </p:ext>
            </p:extLst>
          </p:nvPr>
        </p:nvGraphicFramePr>
        <p:xfrm>
          <a:off x="160699" y="952073"/>
          <a:ext cx="11865569" cy="5356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558">
                  <a:extLst>
                    <a:ext uri="{9D8B030D-6E8A-4147-A177-3AD203B41FA5}">
                      <a16:colId xmlns:a16="http://schemas.microsoft.com/office/drawing/2014/main" val="1151322654"/>
                    </a:ext>
                  </a:extLst>
                </a:gridCol>
                <a:gridCol w="922943">
                  <a:extLst>
                    <a:ext uri="{9D8B030D-6E8A-4147-A177-3AD203B41FA5}">
                      <a16:colId xmlns:a16="http://schemas.microsoft.com/office/drawing/2014/main" val="266533815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1374002975"/>
                    </a:ext>
                  </a:extLst>
                </a:gridCol>
                <a:gridCol w="4143463">
                  <a:extLst>
                    <a:ext uri="{9D8B030D-6E8A-4147-A177-3AD203B41FA5}">
                      <a16:colId xmlns:a16="http://schemas.microsoft.com/office/drawing/2014/main" val="1810519564"/>
                    </a:ext>
                  </a:extLst>
                </a:gridCol>
                <a:gridCol w="3743237">
                  <a:extLst>
                    <a:ext uri="{9D8B030D-6E8A-4147-A177-3AD203B41FA5}">
                      <a16:colId xmlns:a16="http://schemas.microsoft.com/office/drawing/2014/main" val="2774603272"/>
                    </a:ext>
                  </a:extLst>
                </a:gridCol>
                <a:gridCol w="529593">
                  <a:extLst>
                    <a:ext uri="{9D8B030D-6E8A-4147-A177-3AD203B41FA5}">
                      <a16:colId xmlns:a16="http://schemas.microsoft.com/office/drawing/2014/main" val="532618218"/>
                    </a:ext>
                  </a:extLst>
                </a:gridCol>
              </a:tblGrid>
              <a:tr h="4286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ID</a:t>
                      </a:r>
                      <a:endParaRPr lang="ko-KR" altLang="en-US" sz="1100" b="1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</a:t>
                      </a:r>
                      <a:endParaRPr lang="ko-KR" altLang="en-US" sz="1100" b="1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시나리오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검증결과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달성</a:t>
                      </a:r>
                      <a:br>
                        <a:rPr lang="en-US" altLang="ko-KR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</a:br>
                      <a:r>
                        <a:rPr lang="ko-KR" altLang="en-US" sz="1200" b="1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0706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QA1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en-US" altLang="ko-KR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3326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QA2</a:t>
                      </a:r>
                      <a:endParaRPr lang="ko-KR" altLang="en-US" sz="1000" b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b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98624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QA3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3827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latin typeface="SamsungOneKoreanOTF 400C" panose="020B0506030303020204" pitchFamily="34" charset="-127"/>
                          <a:ea typeface="SamsungOneKoreanOTF 400C" panose="020B0506030303020204" pitchFamily="34" charset="-127"/>
                        </a:rPr>
                        <a:t>QA4</a:t>
                      </a: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6162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900" b="0" baseline="0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i="0" dirty="0">
                        <a:solidFill>
                          <a:schemeClr val="tx1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1" dirty="0">
                        <a:solidFill>
                          <a:srgbClr val="0070C0"/>
                        </a:solidFill>
                        <a:latin typeface="SamsungOneKoreanOTF 400C" panose="020B0506030303020204" pitchFamily="34" charset="-127"/>
                        <a:ea typeface="SamsungOneKoreanOTF 400C" panose="020B05060303030202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81057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DC5F3D-A62C-4392-AEE9-F5E0E0D65BE9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6" name="오각형 33">
              <a:extLst>
                <a:ext uri="{FF2B5EF4-FFF2-40B4-BE49-F238E27FC236}">
                  <a16:creationId xmlns:a16="http://schemas.microsoft.com/office/drawing/2014/main" id="{2BF51B14-E90F-43AC-86DB-7A830743F103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7" name="갈매기형 수장 35">
              <a:extLst>
                <a:ext uri="{FF2B5EF4-FFF2-40B4-BE49-F238E27FC236}">
                  <a16:creationId xmlns:a16="http://schemas.microsoft.com/office/drawing/2014/main" id="{D86F6401-FC8D-4055-9777-BCB965F4E43D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18" name="갈매기형 수장 36">
              <a:extLst>
                <a:ext uri="{FF2B5EF4-FFF2-40B4-BE49-F238E27FC236}">
                  <a16:creationId xmlns:a16="http://schemas.microsoft.com/office/drawing/2014/main" id="{C9CE3F12-2EA9-4B0C-8AE8-45AC66F6D1A9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19" name="갈매기형 수장 37">
              <a:extLst>
                <a:ext uri="{FF2B5EF4-FFF2-40B4-BE49-F238E27FC236}">
                  <a16:creationId xmlns:a16="http://schemas.microsoft.com/office/drawing/2014/main" id="{D441322C-63A8-4A9F-A489-568D055B6AAA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364EDE-7711-48FA-B4C0-EF3EC7A97A90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1" name="갈매기형 수장 38">
                <a:extLst>
                  <a:ext uri="{FF2B5EF4-FFF2-40B4-BE49-F238E27FC236}">
                    <a16:creationId xmlns:a16="http://schemas.microsoft.com/office/drawing/2014/main" id="{455BA281-969D-4D23-868A-2221CFD695F9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4A165AA-BE94-40F5-94F7-A358B9F4D66D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432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구현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FAD063-F431-454E-98CA-89D21AD682CD}"/>
              </a:ext>
            </a:extLst>
          </p:cNvPr>
          <p:cNvSpPr/>
          <p:nvPr/>
        </p:nvSpPr>
        <p:spPr>
          <a:xfrm rot="20977912">
            <a:off x="2839964" y="804350"/>
            <a:ext cx="5383676" cy="18845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결과물 정리 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(PoC,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데모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영상 등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AI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모델</a:t>
            </a:r>
            <a:r>
              <a:rPr lang="en-US" altLang="ko-KR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, </a:t>
            </a:r>
            <a:r>
              <a:rPr lang="ko-KR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</a:rPr>
              <a:t>데이터 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등 반드시 기입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7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4BE66A-59AB-49F5-A404-B8B18029471F}"/>
              </a:ext>
            </a:extLst>
          </p:cNvPr>
          <p:cNvSpPr txBox="1"/>
          <p:nvPr/>
        </p:nvSpPr>
        <p:spPr>
          <a:xfrm>
            <a:off x="596153" y="1021977"/>
            <a:ext cx="10985646" cy="2491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dirty="0"/>
              <a:t>주요 성과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dirty="0"/>
              <a:t>향후 계획</a:t>
            </a: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6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ko-KR" altLang="en-US" sz="1600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결론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DA5D580-C49C-4EED-BC0A-317AFE605ADD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5C2796AB-C023-4E4A-BE94-37EC2CE30AA9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8" name="갈매기형 수장 35">
              <a:extLst>
                <a:ext uri="{FF2B5EF4-FFF2-40B4-BE49-F238E27FC236}">
                  <a16:creationId xmlns:a16="http://schemas.microsoft.com/office/drawing/2014/main" id="{F1BBBAD0-1337-4E1F-A92C-5E197F05735C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6" name="갈매기형 수장 36">
              <a:extLst>
                <a:ext uri="{FF2B5EF4-FFF2-40B4-BE49-F238E27FC236}">
                  <a16:creationId xmlns:a16="http://schemas.microsoft.com/office/drawing/2014/main" id="{C574B9D6-AED7-4482-A630-68E2D5016F7F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7" name="갈매기형 수장 37">
              <a:extLst>
                <a:ext uri="{FF2B5EF4-FFF2-40B4-BE49-F238E27FC236}">
                  <a16:creationId xmlns:a16="http://schemas.microsoft.com/office/drawing/2014/main" id="{E30FA471-002E-41AF-9DB8-7756D9F30035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5825C78-1AD6-4D4B-9A83-6FF2F3C572F3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9" name="갈매기형 수장 38">
                <a:extLst>
                  <a:ext uri="{FF2B5EF4-FFF2-40B4-BE49-F238E27FC236}">
                    <a16:creationId xmlns:a16="http://schemas.microsoft.com/office/drawing/2014/main" id="{917D2E7C-CC5A-4F1F-88BB-6D056B50BE5A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4450CD-837B-4141-813D-54EEBA9C5985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669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80049" y="1978466"/>
            <a:ext cx="3527683" cy="3092534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4000" b="1"/>
              <a:t>Appendix </a:t>
            </a:r>
            <a:endParaRPr lang="ko-KR" altLang="en-US" sz="4000" b="1" dirty="0"/>
          </a:p>
        </p:txBody>
      </p:sp>
      <p:sp>
        <p:nvSpPr>
          <p:cNvPr id="5" name="직사각형 4"/>
          <p:cNvSpPr/>
          <p:nvPr/>
        </p:nvSpPr>
        <p:spPr>
          <a:xfrm>
            <a:off x="175265" y="3153905"/>
            <a:ext cx="635287" cy="63528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080" y="3789192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68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AAD3E3-B09F-4693-A5CE-23D0E1FCB61C}"/>
              </a:ext>
            </a:extLst>
          </p:cNvPr>
          <p:cNvSpPr txBox="1"/>
          <p:nvPr/>
        </p:nvSpPr>
        <p:spPr>
          <a:xfrm>
            <a:off x="596153" y="1021977"/>
            <a:ext cx="10985646" cy="481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측정 지표 및 평가 기준</a:t>
            </a: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/>
              <a:t>산출 근거</a:t>
            </a:r>
            <a:endParaRPr lang="en-US" altLang="ko-KR" sz="1400" b="1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ㅇㅇㅇ</a:t>
            </a:r>
            <a:endParaRPr lang="ko-KR" altLang="en-US" sz="120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832D001-7212-42AC-93A7-2C44564E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50423"/>
              </p:ext>
            </p:extLst>
          </p:nvPr>
        </p:nvGraphicFramePr>
        <p:xfrm>
          <a:off x="741313" y="1456112"/>
          <a:ext cx="10854534" cy="3002112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578879">
                  <a:extLst>
                    <a:ext uri="{9D8B030D-6E8A-4147-A177-3AD203B41FA5}">
                      <a16:colId xmlns:a16="http://schemas.microsoft.com/office/drawing/2014/main" val="120489247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57191641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229624824"/>
                    </a:ext>
                  </a:extLst>
                </a:gridCol>
                <a:gridCol w="1131905">
                  <a:extLst>
                    <a:ext uri="{9D8B030D-6E8A-4147-A177-3AD203B41FA5}">
                      <a16:colId xmlns:a16="http://schemas.microsoft.com/office/drawing/2014/main" val="3176835231"/>
                    </a:ext>
                  </a:extLst>
                </a:gridCol>
              </a:tblGrid>
              <a:tr h="3335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effectLst/>
                        </a:rPr>
                        <a:t>지표명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측정 방법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목표치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최소 허용치</a:t>
                      </a:r>
                    </a:p>
                  </a:txBody>
                  <a:tcPr marL="71521" marR="71521" marT="35761" marB="3576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166368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72521986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589614953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349957130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074551741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210078663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3212999597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98197549"/>
                  </a:ext>
                </a:extLst>
              </a:tr>
              <a:tr h="333568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effectLst/>
                      </a:endParaRPr>
                    </a:p>
                  </a:txBody>
                  <a:tcPr marL="71521" marR="71521" marT="35761" marB="35761" anchor="ctr"/>
                </a:tc>
                <a:extLst>
                  <a:ext uri="{0D108BD9-81ED-4DB2-BD59-A6C34878D82A}">
                    <a16:rowId xmlns:a16="http://schemas.microsoft.com/office/drawing/2014/main" val="1232007926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6153" y="5979"/>
            <a:ext cx="10286135" cy="522939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Appendix. </a:t>
            </a:r>
            <a:r>
              <a:rPr lang="ko-KR" altLang="en-US" sz="2400" b="1" dirty="0" err="1">
                <a:latin typeface="SamsungOneKoreanOTF 700C" panose="020B0806030303020204" pitchFamily="34" charset="-127"/>
                <a:ea typeface="SamsungOneKoreanOTF 700C" panose="020B0806030303020204" pitchFamily="34" charset="-127"/>
              </a:rPr>
              <a:t>ㅇㅇㅇ</a:t>
            </a:r>
            <a:endParaRPr lang="ko-KR" altLang="en-US" sz="2400" b="1" dirty="0">
              <a:latin typeface="SamsungOneKoreanOTF 700C" panose="020B0806030303020204" pitchFamily="34" charset="-127"/>
              <a:ea typeface="SamsungOneKoreanOTF 700C" panose="020B0806030303020204" pitchFamily="34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534609"/>
            <a:ext cx="12192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-4482" y="0"/>
            <a:ext cx="528918" cy="5289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3A6ED0-519D-423F-8502-B77DE395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18389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B15E51-67F7-44DB-B1AD-710E2A696355}"/>
              </a:ext>
            </a:extLst>
          </p:cNvPr>
          <p:cNvGrpSpPr/>
          <p:nvPr/>
        </p:nvGrpSpPr>
        <p:grpSpPr>
          <a:xfrm>
            <a:off x="8866203" y="156890"/>
            <a:ext cx="3171258" cy="220901"/>
            <a:chOff x="8907190" y="107486"/>
            <a:chExt cx="3171258" cy="220901"/>
          </a:xfrm>
        </p:grpSpPr>
        <p:sp>
          <p:nvSpPr>
            <p:cNvPr id="17" name="오각형 33">
              <a:extLst>
                <a:ext uri="{FF2B5EF4-FFF2-40B4-BE49-F238E27FC236}">
                  <a16:creationId xmlns:a16="http://schemas.microsoft.com/office/drawing/2014/main" id="{70B50750-215E-4BAC-8F0E-E2B63A824FDA}"/>
                </a:ext>
              </a:extLst>
            </p:cNvPr>
            <p:cNvSpPr/>
            <p:nvPr/>
          </p:nvSpPr>
          <p:spPr>
            <a:xfrm>
              <a:off x="8907190" y="107486"/>
              <a:ext cx="710028" cy="22090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과제 소개</a:t>
              </a:r>
            </a:p>
          </p:txBody>
        </p:sp>
        <p:sp>
          <p:nvSpPr>
            <p:cNvPr id="19" name="갈매기형 수장 35">
              <a:extLst>
                <a:ext uri="{FF2B5EF4-FFF2-40B4-BE49-F238E27FC236}">
                  <a16:creationId xmlns:a16="http://schemas.microsoft.com/office/drawing/2014/main" id="{266E71C4-74C6-4607-BC7B-898F5303CC13}"/>
                </a:ext>
              </a:extLst>
            </p:cNvPr>
            <p:cNvSpPr/>
            <p:nvPr/>
          </p:nvSpPr>
          <p:spPr>
            <a:xfrm>
              <a:off x="9520254" y="107486"/>
              <a:ext cx="782658" cy="220901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요구사항</a:t>
              </a:r>
            </a:p>
          </p:txBody>
        </p:sp>
        <p:sp>
          <p:nvSpPr>
            <p:cNvPr id="20" name="갈매기형 수장 36">
              <a:extLst>
                <a:ext uri="{FF2B5EF4-FFF2-40B4-BE49-F238E27FC236}">
                  <a16:creationId xmlns:a16="http://schemas.microsoft.com/office/drawing/2014/main" id="{8ACBF34E-6D8F-48DB-97FC-1F845009550C}"/>
                </a:ext>
              </a:extLst>
            </p:cNvPr>
            <p:cNvSpPr/>
            <p:nvPr/>
          </p:nvSpPr>
          <p:spPr>
            <a:xfrm>
              <a:off x="10207959" y="107486"/>
              <a:ext cx="635493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설계</a:t>
              </a:r>
            </a:p>
          </p:txBody>
        </p:sp>
        <p:sp>
          <p:nvSpPr>
            <p:cNvPr id="21" name="갈매기형 수장 37">
              <a:extLst>
                <a:ext uri="{FF2B5EF4-FFF2-40B4-BE49-F238E27FC236}">
                  <a16:creationId xmlns:a16="http://schemas.microsoft.com/office/drawing/2014/main" id="{597B3D23-75F3-4660-B695-6DD8F7E893FE}"/>
                </a:ext>
              </a:extLst>
            </p:cNvPr>
            <p:cNvSpPr/>
            <p:nvPr/>
          </p:nvSpPr>
          <p:spPr>
            <a:xfrm>
              <a:off x="10745694" y="107486"/>
              <a:ext cx="840744" cy="220901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구현</a:t>
              </a:r>
              <a:r>
                <a:rPr lang="en-US" altLang="ko-KR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/</a:t>
              </a:r>
              <a:r>
                <a:rPr lang="ko-KR" altLang="en-US" sz="800" b="1" dirty="0">
                  <a:latin typeface="SamsungOneKoreanOTF 400C" panose="020B0506030303020204" pitchFamily="34" charset="-127"/>
                  <a:ea typeface="SamsungOneKoreanOTF 400C" panose="020B0506030303020204" pitchFamily="34" charset="-127"/>
                </a:rPr>
                <a:t>검증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D04485E-2551-4580-8BEA-F5AB713EB90F}"/>
                </a:ext>
              </a:extLst>
            </p:cNvPr>
            <p:cNvGrpSpPr/>
            <p:nvPr/>
          </p:nvGrpSpPr>
          <p:grpSpPr>
            <a:xfrm>
              <a:off x="11492157" y="107486"/>
              <a:ext cx="586291" cy="220901"/>
              <a:chOff x="11185893" y="172041"/>
              <a:chExt cx="716745" cy="277320"/>
            </a:xfrm>
          </p:grpSpPr>
          <p:sp>
            <p:nvSpPr>
              <p:cNvPr id="23" name="갈매기형 수장 38">
                <a:extLst>
                  <a:ext uri="{FF2B5EF4-FFF2-40B4-BE49-F238E27FC236}">
                    <a16:creationId xmlns:a16="http://schemas.microsoft.com/office/drawing/2014/main" id="{B742CDDF-52B4-4261-877D-FAC9EB86505C}"/>
                  </a:ext>
                </a:extLst>
              </p:cNvPr>
              <p:cNvSpPr/>
              <p:nvPr/>
            </p:nvSpPr>
            <p:spPr>
              <a:xfrm>
                <a:off x="11185893" y="172041"/>
                <a:ext cx="716745" cy="277320"/>
              </a:xfrm>
              <a:prstGeom prst="chevron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800" b="1" dirty="0">
                    <a:latin typeface="SamsungOneKoreanOTF 400C" panose="020B0506030303020204" pitchFamily="34" charset="-127"/>
                    <a:ea typeface="SamsungOneKoreanOTF 400C" panose="020B0506030303020204" pitchFamily="34" charset="-127"/>
                  </a:rPr>
                  <a:t>결론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0B535D1-03CE-47BE-841F-345AA3BD6ACA}"/>
                  </a:ext>
                </a:extLst>
              </p:cNvPr>
              <p:cNvSpPr/>
              <p:nvPr/>
            </p:nvSpPr>
            <p:spPr>
              <a:xfrm>
                <a:off x="11729261" y="172041"/>
                <a:ext cx="173377" cy="277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b="1">
                  <a:latin typeface="SamsungOneKoreanOTF 400C" panose="020B0506030303020204" pitchFamily="34" charset="-127"/>
                  <a:ea typeface="SamsungOneKoreanOTF 400C" panose="020B0506030303020204" pitchFamily="34" charset="-127"/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991D86-13A8-43D5-BDD5-B2F6B010EBCE}"/>
              </a:ext>
            </a:extLst>
          </p:cNvPr>
          <p:cNvSpPr/>
          <p:nvPr/>
        </p:nvSpPr>
        <p:spPr>
          <a:xfrm rot="20977912">
            <a:off x="3471148" y="2048350"/>
            <a:ext cx="5383676" cy="26685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기타 상세 자료 및 근거 자유롭게 추가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81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83031D9AD15740B9C902CCF4BB6E7F" ma:contentTypeVersion="0" ma:contentTypeDescription="Create a new document." ma:contentTypeScope="" ma:versionID="accbbc2a9bfd0ffaba73270833c8ef0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24fd2d4348e31d7b7bcc391e9da950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158BED-C6B9-48F4-8D12-59D419C7C3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D463C9D-8F92-46F8-A279-E9DC9708FF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88B864-D635-42B9-BA85-A308EE75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7673</TotalTime>
  <Words>1215</Words>
  <Application>Microsoft Office PowerPoint</Application>
  <PresentationFormat>와이드스크린</PresentationFormat>
  <Paragraphs>361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SamsungOneKoreanOTF 400C</vt:lpstr>
      <vt:lpstr>SamsungOneKoreanOTF 700C</vt:lpstr>
      <vt:lpstr>맑은 고딕</vt:lpstr>
      <vt:lpstr>맑은 고딕</vt:lpstr>
      <vt:lpstr>Arial</vt:lpstr>
      <vt:lpstr>Office 테마</vt:lpstr>
      <vt:lpstr>사용 패턴 기반 SmartThings AI 상황 인식 서비스 설계SmartThings Raw Data, SQLite, Vector DB, Gauss Chat API를 결합한 Home Insight POC </vt:lpstr>
      <vt:lpstr>목차</vt:lpstr>
      <vt:lpstr>과제 소개</vt:lpstr>
      <vt:lpstr>과제 개요</vt:lpstr>
      <vt:lpstr>기능 요구사항 및 제약사항</vt:lpstr>
      <vt:lpstr>품질 속성</vt:lpstr>
      <vt:lpstr>DP1. 설계 문제 정의</vt:lpstr>
      <vt:lpstr>DP1. 설계안 결정</vt:lpstr>
      <vt:lpstr>DP1. 설계결정 및 근거</vt:lpstr>
      <vt:lpstr>DP2. 설계 문제 정의</vt:lpstr>
      <vt:lpstr>DP2. 설계안 결정</vt:lpstr>
      <vt:lpstr>DP2. 설계결정 및 근거</vt:lpstr>
      <vt:lpstr>최종 Architecture (1/2)</vt:lpstr>
      <vt:lpstr>최종 Architecture (2/2)</vt:lpstr>
      <vt:lpstr>품질속성 검증</vt:lpstr>
      <vt:lpstr>구현</vt:lpstr>
      <vt:lpstr>결론</vt:lpstr>
      <vt:lpstr>Appendix </vt:lpstr>
      <vt:lpstr>Appendix. ㅇㅇㅇ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(AI 기능/품질 요구사항 포함) 과제 제목</dc:title>
  <dc:creator>김우성/S/W개발그룹(생활가전)/삼성전자</dc:creator>
  <cp:lastModifiedBy>조범진/SmartThings개발그룹(DPC)/삼성전자</cp:lastModifiedBy>
  <cp:revision>119</cp:revision>
  <dcterms:created xsi:type="dcterms:W3CDTF">2026-01-22T05:02:52Z</dcterms:created>
  <dcterms:modified xsi:type="dcterms:W3CDTF">2026-05-26T05:21:31Z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24E0FA06C4A70F6BF39F315AF7AD7BFA599942AF27F47DF327F37F19087AFFFDC862925F6C7F6F0728F813CE4AE0B8561E677D96CDE07299949F59A7177E96D5</vt:lpwstr>
  </property>
  <property fmtid="{D5CDD505-2E9C-101B-9397-08002B2CF9AE}" pid="4" name="ContentTypeId">
    <vt:lpwstr>0x0101002783031D9AD15740B9C902CCF4BB6E7F</vt:lpwstr>
  </property>
</Properties>
</file>