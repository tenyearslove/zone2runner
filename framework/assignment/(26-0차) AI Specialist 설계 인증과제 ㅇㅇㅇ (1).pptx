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95" r:id="rId3"/>
    <p:sldId id="259" r:id="rId4"/>
    <p:sldId id="260" r:id="rId5"/>
    <p:sldId id="261" r:id="rId6"/>
    <p:sldId id="262" r:id="rId7"/>
    <p:sldId id="265" r:id="rId8"/>
    <p:sldId id="266" r:id="rId9"/>
    <p:sldId id="297" r:id="rId10"/>
    <p:sldId id="300" r:id="rId11"/>
    <p:sldId id="290" r:id="rId12"/>
    <p:sldId id="299" r:id="rId13"/>
    <p:sldId id="288" r:id="rId14"/>
    <p:sldId id="292" r:id="rId15"/>
    <p:sldId id="268" r:id="rId16"/>
    <p:sldId id="269" r:id="rId17"/>
    <p:sldId id="296" r:id="rId18"/>
    <p:sldId id="271" r:id="rId19"/>
    <p:sldId id="272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과제계획서" id="{37F76FF6-4D84-4600-95AA-DDDC590B9DE5}">
          <p14:sldIdLst>
            <p14:sldId id="257"/>
            <p14:sldId id="295"/>
            <p14:sldId id="259"/>
            <p14:sldId id="260"/>
          </p14:sldIdLst>
        </p14:section>
        <p14:section name="2. 중간보고" id="{A601592A-F38A-4CD8-B977-3648669BA917}">
          <p14:sldIdLst>
            <p14:sldId id="261"/>
            <p14:sldId id="262"/>
          </p14:sldIdLst>
        </p14:section>
        <p14:section name="3. 최종보고" id="{01993820-4598-4128-A3D2-939FA032654F}">
          <p14:sldIdLst>
            <p14:sldId id="265"/>
            <p14:sldId id="266"/>
            <p14:sldId id="297"/>
            <p14:sldId id="300"/>
            <p14:sldId id="290"/>
            <p14:sldId id="299"/>
            <p14:sldId id="288"/>
            <p14:sldId id="292"/>
            <p14:sldId id="268"/>
            <p14:sldId id="269"/>
            <p14:sldId id="296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56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61253-6CA1-40D7-9EA9-1F6EBC511C5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8CA7B-468F-49DD-BEC4-E1CB5442C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9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50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58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0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701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741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6342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56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86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278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364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415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319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340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598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597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716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10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7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1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03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09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54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2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260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95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4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5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94656-37DE-4017-8F2F-592F9AD3384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97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1D7A8F6-B678-4C3B-B207-3B00C868D3DA}"/>
              </a:ext>
            </a:extLst>
          </p:cNvPr>
          <p:cNvSpPr/>
          <p:nvPr/>
        </p:nvSpPr>
        <p:spPr>
          <a:xfrm>
            <a:off x="0" y="1464907"/>
            <a:ext cx="12192000" cy="2351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8258" y="1464907"/>
            <a:ext cx="11878235" cy="235131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4000" b="1" dirty="0" err="1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ㅇㅇㅇㅇ</a:t>
            </a:r>
            <a:r>
              <a:rPr lang="ko-KR" altLang="en-US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과제 제목 </a:t>
            </a:r>
            <a:br>
              <a:rPr lang="en-US" altLang="ko-KR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</a:br>
            <a:r>
              <a:rPr lang="en-US" altLang="ko-KR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(</a:t>
            </a:r>
            <a:r>
              <a:rPr lang="ko-KR" altLang="en-US" sz="4000" b="1" dirty="0" err="1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ㅇㅇㅇㅇ</a:t>
            </a:r>
            <a:r>
              <a:rPr lang="en-US" altLang="ko-KR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)</a:t>
            </a:r>
            <a:endParaRPr lang="ko-KR" altLang="en-US" sz="4000" b="1" dirty="0">
              <a:solidFill>
                <a:schemeClr val="bg1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42849" y="5162295"/>
            <a:ext cx="40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MX</a:t>
            </a:r>
            <a:r>
              <a:rPr lang="ko-KR" altLang="en-US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사업부 </a:t>
            </a:r>
            <a:r>
              <a:rPr lang="en-US" altLang="ko-KR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/ </a:t>
            </a:r>
            <a:r>
              <a:rPr lang="ko-KR" altLang="en-US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ㅇㅇㅇ</a:t>
            </a:r>
            <a:r>
              <a:rPr lang="en-US" altLang="ko-KR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Lab.</a:t>
            </a:r>
          </a:p>
          <a:p>
            <a:pPr algn="r"/>
            <a:r>
              <a:rPr lang="ko-KR" altLang="en-US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김삼성</a:t>
            </a:r>
            <a:endParaRPr lang="ko-KR" altLang="en-US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327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8300" y="-1996"/>
            <a:ext cx="10209935" cy="522939"/>
          </a:xfrm>
        </p:spPr>
        <p:txBody>
          <a:bodyPr>
            <a:normAutofit/>
          </a:bodyPr>
          <a:lstStyle/>
          <a:p>
            <a:r>
              <a:rPr lang="ko-KR" altLang="en-US" sz="240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목차</a:t>
            </a:r>
            <a:endParaRPr lang="ko-KR" altLang="en-US" sz="2400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0336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0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228" y="800905"/>
            <a:ext cx="2699640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01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계획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배경 필요성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228" y="2297110"/>
            <a:ext cx="4338921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02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요구사항 분석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기능 요구사항 및 제약사항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품질 요구사항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228" y="3793315"/>
            <a:ext cx="3271489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03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설계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Architectural Decision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최종 </a:t>
            </a:r>
            <a:r>
              <a:rPr lang="en-US" altLang="ko-KR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Architecture</a:t>
            </a:r>
            <a:endParaRPr lang="ko-KR" altLang="en-US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228" y="5289520"/>
            <a:ext cx="2518665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04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구현 및 검증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구현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품질속성 검증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71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과제 소개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1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96154" y="1069147"/>
            <a:ext cx="10422998" cy="3744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배경</a:t>
            </a: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ㅇㅇ</a:t>
            </a: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ㅇㅇ</a:t>
            </a: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필요성</a:t>
            </a: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ea typeface="SamsungOneKoreanOTF 400C" panose="020B0506030303020204" pitchFamily="34" charset="-127"/>
              </a:rPr>
              <a:t>ㅇㅇㅇ</a:t>
            </a:r>
            <a:endParaRPr lang="en-US" altLang="ko-KR" sz="1400" dirty="0"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ea typeface="SamsungOneKoreanOTF 400C" panose="020B0506030303020204" pitchFamily="34" charset="-127"/>
              </a:rPr>
              <a:t>ㅇㅇㅇ</a:t>
            </a:r>
            <a:endParaRPr lang="en-US" altLang="ko-KR" sz="1400" dirty="0"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 과제 목표 및 가치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ㅇㅇㅇㅇ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64" name="오각형 33">
              <a:extLst>
                <a:ext uri="{FF2B5EF4-FFF2-40B4-BE49-F238E27FC236}">
                  <a16:creationId xmlns:a16="http://schemas.microsoft.com/office/drawing/2014/main" id="{A92FF41F-A983-40E8-82B4-348384978BC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rgbClr val="3CAD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65" name="갈매기형 수장 35">
              <a:extLst>
                <a:ext uri="{FF2B5EF4-FFF2-40B4-BE49-F238E27FC236}">
                  <a16:creationId xmlns:a16="http://schemas.microsoft.com/office/drawing/2014/main" id="{35649FE5-0EE5-4EB7-BF1E-C3CE0178468A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68" name="갈매기형 수장 36">
              <a:extLst>
                <a:ext uri="{FF2B5EF4-FFF2-40B4-BE49-F238E27FC236}">
                  <a16:creationId xmlns:a16="http://schemas.microsoft.com/office/drawing/2014/main" id="{609A7397-24BF-4223-850E-6EB288F45E65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69" name="갈매기형 수장 37">
              <a:extLst>
                <a:ext uri="{FF2B5EF4-FFF2-40B4-BE49-F238E27FC236}">
                  <a16:creationId xmlns:a16="http://schemas.microsoft.com/office/drawing/2014/main" id="{3599400D-4952-42AA-BC19-18FC421AFA34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CC6B17F-3EDA-4358-9C37-450D2F9694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72" name="갈매기형 수장 38">
                <a:extLst>
                  <a:ext uri="{FF2B5EF4-FFF2-40B4-BE49-F238E27FC236}">
                    <a16:creationId xmlns:a16="http://schemas.microsoft.com/office/drawing/2014/main" id="{AD8C0DD4-C00C-4A6D-B307-31E76B8C746D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5E710D71-57AC-413E-A92B-57FDCEAEBD97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pic>
        <p:nvPicPr>
          <p:cNvPr id="1026" name="Picture 2" descr="AI 배경 변경기 | 전문가급 배경을 즉시 만들어보세요 - Somake AI">
            <a:extLst>
              <a:ext uri="{FF2B5EF4-FFF2-40B4-BE49-F238E27FC236}">
                <a16:creationId xmlns:a16="http://schemas.microsoft.com/office/drawing/2014/main" id="{B0ABC0A2-DE09-4515-8E8B-74A9713DF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243" y="3614932"/>
            <a:ext cx="3022319" cy="226674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06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과제 개요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1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588599"/>
              </p:ext>
            </p:extLst>
          </p:nvPr>
        </p:nvGraphicFramePr>
        <p:xfrm>
          <a:off x="649100" y="1295223"/>
          <a:ext cx="11246540" cy="45116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13253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9133287">
                  <a:extLst>
                    <a:ext uri="{9D8B030D-6E8A-4147-A177-3AD203B41FA5}">
                      <a16:colId xmlns:a16="http://schemas.microsoft.com/office/drawing/2014/main" val="1443113069"/>
                    </a:ext>
                  </a:extLst>
                </a:gridCol>
              </a:tblGrid>
              <a:tr h="143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과제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Name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 관련 간략 설명</a:t>
                      </a:r>
                      <a:endParaRPr lang="ko-KR" altLang="en-US" sz="1200" b="1" u="sng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16226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과제상세</a:t>
                      </a:r>
                      <a:endParaRPr lang="en-US" altLang="ko-KR" sz="12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(Work to do)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과제수행을 통해 달성하고자 하는 목표 수준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목표 달성을 위한 연구방안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목표 달성을 측정하기 위한 구체적인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1454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성과 및 기대효과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과제수행을 통해 예상되는 기술 수준 향상도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사업 성과 측면의 기대효과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91703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3680D883-E77A-4D75-A96B-2E7CE3B5CA32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34" name="오각형 33">
              <a:extLst>
                <a:ext uri="{FF2B5EF4-FFF2-40B4-BE49-F238E27FC236}">
                  <a16:creationId xmlns:a16="http://schemas.microsoft.com/office/drawing/2014/main" id="{34EB277E-ABDE-4C11-B9D5-2317C78DEAFD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rgbClr val="3CAD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35" name="갈매기형 수장 35">
              <a:extLst>
                <a:ext uri="{FF2B5EF4-FFF2-40B4-BE49-F238E27FC236}">
                  <a16:creationId xmlns:a16="http://schemas.microsoft.com/office/drawing/2014/main" id="{AB7FB9F4-3859-4585-A612-3E70D948D6E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36" name="갈매기형 수장 36">
              <a:extLst>
                <a:ext uri="{FF2B5EF4-FFF2-40B4-BE49-F238E27FC236}">
                  <a16:creationId xmlns:a16="http://schemas.microsoft.com/office/drawing/2014/main" id="{2761F454-9DAB-4B7A-AD34-2DDB048D1F7D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37" name="갈매기형 수장 37">
              <a:extLst>
                <a:ext uri="{FF2B5EF4-FFF2-40B4-BE49-F238E27FC236}">
                  <a16:creationId xmlns:a16="http://schemas.microsoft.com/office/drawing/2014/main" id="{3E91D828-EC90-49FA-8191-E0AA29CA04D1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923D846-23F1-493F-877C-0FD25383A867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39" name="갈매기형 수장 38">
                <a:extLst>
                  <a:ext uri="{FF2B5EF4-FFF2-40B4-BE49-F238E27FC236}">
                    <a16:creationId xmlns:a16="http://schemas.microsoft.com/office/drawing/2014/main" id="{35FD2ABC-420F-4D54-95AA-F79E7BE50573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A366E2AA-90B1-490E-85AB-9745A9C75724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5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기능 요구사항 및 제약사항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95530" y="651046"/>
            <a:ext cx="7302550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기능 요구사항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172952"/>
              </p:ext>
            </p:extLst>
          </p:nvPr>
        </p:nvGraphicFramePr>
        <p:xfrm>
          <a:off x="420016" y="1182858"/>
          <a:ext cx="11297502" cy="311045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125980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2703619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7467903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</a:tblGrid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TITLE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Description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FR1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FR2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baseline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FR3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881057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FR4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942027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FR5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944597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FR6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67574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5530" y="4466770"/>
            <a:ext cx="1229824" cy="46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제약사항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383004"/>
              </p:ext>
            </p:extLst>
          </p:nvPr>
        </p:nvGraphicFramePr>
        <p:xfrm>
          <a:off x="420016" y="5037498"/>
          <a:ext cx="11297502" cy="126534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25980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2703976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7467546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</a:tblGrid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TITLE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Description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C01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C02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2B1DE469-99F2-4A69-9F39-936BEA540F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34" name="오각형 33">
              <a:extLst>
                <a:ext uri="{FF2B5EF4-FFF2-40B4-BE49-F238E27FC236}">
                  <a16:creationId xmlns:a16="http://schemas.microsoft.com/office/drawing/2014/main" id="{E7575604-67D9-42B6-BB77-F115D8A276B0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35" name="갈매기형 수장 35">
              <a:extLst>
                <a:ext uri="{FF2B5EF4-FFF2-40B4-BE49-F238E27FC236}">
                  <a16:creationId xmlns:a16="http://schemas.microsoft.com/office/drawing/2014/main" id="{97C02E5D-9785-4EDB-91E8-A6AAAAFA624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36" name="갈매기형 수장 36">
              <a:extLst>
                <a:ext uri="{FF2B5EF4-FFF2-40B4-BE49-F238E27FC236}">
                  <a16:creationId xmlns:a16="http://schemas.microsoft.com/office/drawing/2014/main" id="{30512639-19D9-4026-AF79-352914F07D49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37" name="갈매기형 수장 37">
              <a:extLst>
                <a:ext uri="{FF2B5EF4-FFF2-40B4-BE49-F238E27FC236}">
                  <a16:creationId xmlns:a16="http://schemas.microsoft.com/office/drawing/2014/main" id="{08512BE3-25B2-4C56-AB50-8C7F6C3693ED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82E44F0-5E30-4D11-AE5A-762E3C8F683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39" name="갈매기형 수장 38">
                <a:extLst>
                  <a:ext uri="{FF2B5EF4-FFF2-40B4-BE49-F238E27FC236}">
                    <a16:creationId xmlns:a16="http://schemas.microsoft.com/office/drawing/2014/main" id="{ED5897E3-96B9-4596-931D-C9DFCA7CFD9F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5F79C36C-B19B-45BD-A7E3-2BE1FE49363A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ACEB14-35F8-4365-A884-452CDDCE3F60}"/>
              </a:ext>
            </a:extLst>
          </p:cNvPr>
          <p:cNvSpPr/>
          <p:nvPr/>
        </p:nvSpPr>
        <p:spPr>
          <a:xfrm rot="20914968">
            <a:off x="5365791" y="1779551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기능요구사항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최소 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4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개 선정 필수</a:t>
            </a:r>
            <a:endParaRPr lang="en-US" altLang="ko-KR" b="1" dirty="0">
              <a:solidFill>
                <a:schemeClr val="accent5">
                  <a:lumMod val="75000"/>
                </a:schemeClr>
              </a:solidFill>
              <a:highlight>
                <a:srgbClr val="C0C0C0"/>
              </a:highlight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이 중 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AI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관련 요구사항이 포함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되어 있어야 함</a:t>
            </a:r>
          </a:p>
        </p:txBody>
      </p:sp>
    </p:spTree>
    <p:extLst>
      <p:ext uri="{BB962C8B-B14F-4D97-AF65-F5344CB8AC3E}">
        <p14:creationId xmlns:p14="http://schemas.microsoft.com/office/powerpoint/2010/main" val="157169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품질 속성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390" y="528918"/>
            <a:ext cx="868411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QAW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및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Utility Tree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를 통한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ASR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선정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(AI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관련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QA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반드시 포함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</a:t>
            </a:r>
            <a:endParaRPr lang="ko-KR" altLang="en-US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515634"/>
              </p:ext>
            </p:extLst>
          </p:nvPr>
        </p:nvGraphicFramePr>
        <p:xfrm>
          <a:off x="663199" y="1249724"/>
          <a:ext cx="10882252" cy="4004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2531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1080139">
                  <a:extLst>
                    <a:ext uri="{9D8B030D-6E8A-4147-A177-3AD203B41FA5}">
                      <a16:colId xmlns:a16="http://schemas.microsoft.com/office/drawing/2014/main" val="1443113069"/>
                    </a:ext>
                  </a:extLst>
                </a:gridCol>
                <a:gridCol w="2265512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5526578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  <a:gridCol w="688746">
                  <a:extLst>
                    <a:ext uri="{9D8B030D-6E8A-4147-A177-3AD203B41FA5}">
                      <a16:colId xmlns:a16="http://schemas.microsoft.com/office/drawing/2014/main" val="2774603272"/>
                    </a:ext>
                  </a:extLst>
                </a:gridCol>
                <a:gridCol w="688746">
                  <a:extLst>
                    <a:ext uri="{9D8B030D-6E8A-4147-A177-3AD203B41FA5}">
                      <a16:colId xmlns:a16="http://schemas.microsoft.com/office/drawing/2014/main" val="532618218"/>
                    </a:ext>
                  </a:extLst>
                </a:gridCol>
              </a:tblGrid>
              <a:tr h="286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시나리오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중요도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난이도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6984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QA1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기능정확성</a:t>
                      </a: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(AI)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6167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QA2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en-US" altLang="ko-KR" sz="1100" b="0" baseline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62560"/>
                  </a:ext>
                </a:extLst>
              </a:tr>
              <a:tr h="6267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QA3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67904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QA4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5565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522230"/>
                  </a:ext>
                </a:extLst>
              </a:tr>
              <a:tr h="5401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QA6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567052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55CA5531-B40E-486D-846F-5695C7F42688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0D018DC1-F28B-496E-9865-2468793BBE4A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914959C8-18EC-46AC-A3A9-B0532E08828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9" name="갈매기형 수장 36">
              <a:extLst>
                <a:ext uri="{FF2B5EF4-FFF2-40B4-BE49-F238E27FC236}">
                  <a16:creationId xmlns:a16="http://schemas.microsoft.com/office/drawing/2014/main" id="{E595E885-0E7D-4C8B-B057-F41963D25406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0" name="갈매기형 수장 37">
              <a:extLst>
                <a:ext uri="{FF2B5EF4-FFF2-40B4-BE49-F238E27FC236}">
                  <a16:creationId xmlns:a16="http://schemas.microsoft.com/office/drawing/2014/main" id="{EB9F7889-5C33-4829-A578-3EC6B1E22A9B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26B7B0D-00B2-43D4-8716-52D6909FC7E7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2" name="갈매기형 수장 38">
                <a:extLst>
                  <a:ext uri="{FF2B5EF4-FFF2-40B4-BE49-F238E27FC236}">
                    <a16:creationId xmlns:a16="http://schemas.microsoft.com/office/drawing/2014/main" id="{A819D0D3-6757-4B42-B2F1-5C4E7DE2C725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2C781014-2D0A-40DA-8F30-BFA61390BE5B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13B893B-2311-4AA9-99E6-E9FF3831831B}"/>
              </a:ext>
            </a:extLst>
          </p:cNvPr>
          <p:cNvSpPr/>
          <p:nvPr/>
        </p:nvSpPr>
        <p:spPr>
          <a:xfrm rot="20914968">
            <a:off x="3412487" y="2016792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품질속성 최소 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4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개 이상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선정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이중 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AI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특화 품질속성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 2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개 이상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반드시 포함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6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 문제 정의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3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B697D-C102-4939-856E-DA48FBA1F838}"/>
              </a:ext>
            </a:extLst>
          </p:cNvPr>
          <p:cNvSpPr txBox="1"/>
          <p:nvPr/>
        </p:nvSpPr>
        <p:spPr>
          <a:xfrm>
            <a:off x="596153" y="853424"/>
            <a:ext cx="10985646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/>
              <a:t>1. </a:t>
            </a:r>
            <a:r>
              <a:rPr lang="ko-KR" altLang="en-US" sz="1600" b="1" dirty="0"/>
              <a:t>배경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ko-KR" altLang="en-US" sz="1200" dirty="0"/>
          </a:p>
          <a:p>
            <a:pPr>
              <a:lnSpc>
                <a:spcPct val="200000"/>
              </a:lnSpc>
            </a:pPr>
            <a:r>
              <a:rPr lang="en-US" altLang="ko-KR" sz="1600" b="1" dirty="0"/>
              <a:t>2. </a:t>
            </a:r>
            <a:r>
              <a:rPr lang="ko-KR" altLang="en-US" sz="1600" b="1" dirty="0"/>
              <a:t>문제점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D95BDB-D048-490D-8A33-487DC6BC925B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C2C3F738-21AE-4CA6-ABD3-E89A4014745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E8710B0C-4B56-4828-A445-7EFAD02EE56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651FB14D-88D0-4E20-8AF6-919D1E63BE12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13F8088E-93ED-4B72-9015-C46467BA503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EB1EBAE-8844-48D9-A501-002F76DE8AE1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7C3FE47-9CF4-4377-B86A-B09DEC7F476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87D2794-B483-4893-9B78-42B199A7DE0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7924E8-DCED-4E83-BE91-B43625B3E579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DP 2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개 이상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도출된 품질속성 중 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건 이상 비교 필수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66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191731"/>
              </p:ext>
            </p:extLst>
          </p:nvPr>
        </p:nvGraphicFramePr>
        <p:xfrm>
          <a:off x="748397" y="847255"/>
          <a:ext cx="10963777" cy="564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6393">
                  <a:extLst>
                    <a:ext uri="{9D8B030D-6E8A-4147-A177-3AD203B41FA5}">
                      <a16:colId xmlns:a16="http://schemas.microsoft.com/office/drawing/2014/main" val="1860507414"/>
                    </a:ext>
                  </a:extLst>
                </a:gridCol>
                <a:gridCol w="5128692">
                  <a:extLst>
                    <a:ext uri="{9D8B030D-6E8A-4147-A177-3AD203B41FA5}">
                      <a16:colId xmlns:a16="http://schemas.microsoft.com/office/drawing/2014/main" val="1112934244"/>
                    </a:ext>
                  </a:extLst>
                </a:gridCol>
                <a:gridCol w="5128692">
                  <a:extLst>
                    <a:ext uri="{9D8B030D-6E8A-4147-A177-3AD203B41FA5}">
                      <a16:colId xmlns:a16="http://schemas.microsoft.com/office/drawing/2014/main" val="2709743984"/>
                    </a:ext>
                  </a:extLst>
                </a:gridCol>
              </a:tblGrid>
              <a:tr h="2763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(1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ko-KR" altLang="en-US" sz="11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97432"/>
                  </a:ext>
                </a:extLst>
              </a:tr>
              <a:tr h="3628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구조</a:t>
                      </a:r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55606"/>
                  </a:ext>
                </a:extLst>
              </a:tr>
              <a:tr h="519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07908"/>
                  </a:ext>
                </a:extLst>
              </a:tr>
              <a:tr h="48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03641"/>
                  </a:ext>
                </a:extLst>
              </a:tr>
              <a:tr h="73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Trade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Off</a:t>
                      </a:r>
                    </a:p>
                    <a:p>
                      <a:pPr algn="ctr" latinLnBrk="1"/>
                      <a:endParaRPr lang="en-US" altLang="ko-KR" sz="10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247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설계안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F5A31D4-A3B3-45FD-8705-E993532CAC87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8" name="오각형 33">
              <a:extLst>
                <a:ext uri="{FF2B5EF4-FFF2-40B4-BE49-F238E27FC236}">
                  <a16:creationId xmlns:a16="http://schemas.microsoft.com/office/drawing/2014/main" id="{405A9B6F-AAC0-42B7-B434-43ACC0F7F494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618A5C00-0CBD-4C00-BC6D-587EB816A244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34ADA9E2-349E-4A07-90B3-8794BAD18026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DD254E28-1D06-4B60-AE37-190EA10FA1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D1CFE8A-18BB-4441-94CE-17089FB35458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2445F759-8F5D-4D0C-B6AB-154DD451C502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513E7AA-4B9F-4FDA-8CD0-98FF1F12A776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F5BAA7-7524-4BD6-98D9-6FEB7B74344E}"/>
              </a:ext>
            </a:extLst>
          </p:cNvPr>
          <p:cNvSpPr/>
          <p:nvPr/>
        </p:nvSpPr>
        <p:spPr>
          <a:xfrm>
            <a:off x="1453770" y="847255"/>
            <a:ext cx="5124011" cy="573354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3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설계결정 및 근거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CF92-BC50-45DA-BBE4-8CA768C8FB59}"/>
              </a:ext>
            </a:extLst>
          </p:cNvPr>
          <p:cNvSpPr txBox="1"/>
          <p:nvPr/>
        </p:nvSpPr>
        <p:spPr>
          <a:xfrm>
            <a:off x="596153" y="1021977"/>
            <a:ext cx="10985646" cy="439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최종 채택 구조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ㅇㅇㅇㅇㅇ</a:t>
            </a:r>
            <a:r>
              <a:rPr lang="ko-KR" altLang="en-US" sz="1400" dirty="0"/>
              <a:t> 채택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채택 근거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dirty="0"/>
              <a:t>보완 계획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8F8EEA-6DC9-40B0-B7D4-8A0DA68FB413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E6846BAE-2A78-4464-8C1D-D4C1B162DBB6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AE62D383-E1C2-4E54-98BA-B2D0BA62BD1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AC5F62C-168A-4F93-B451-FB24BD69B8DE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9E1FAF6-B7DB-4B68-81FE-7BB30F24E8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49248A-B5F0-4DC6-B99E-32B5C141FD0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B93AE81D-553E-40E1-8EFE-6FB53E05F08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585A663-A6A2-4349-AB84-10EE41F6668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4878E5-D967-438B-B54C-803DDF31D361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설계 결정 및 근거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9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 문제 정의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3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B697D-C102-4939-856E-DA48FBA1F838}"/>
              </a:ext>
            </a:extLst>
          </p:cNvPr>
          <p:cNvSpPr txBox="1"/>
          <p:nvPr/>
        </p:nvSpPr>
        <p:spPr>
          <a:xfrm>
            <a:off x="596153" y="857637"/>
            <a:ext cx="10985646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/>
              <a:t>1. </a:t>
            </a:r>
            <a:r>
              <a:rPr lang="ko-KR" altLang="en-US" sz="1600" b="1" dirty="0"/>
              <a:t>배경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ko-KR" altLang="en-US" sz="1200" dirty="0"/>
          </a:p>
          <a:p>
            <a:pPr>
              <a:lnSpc>
                <a:spcPct val="200000"/>
              </a:lnSpc>
            </a:pPr>
            <a:r>
              <a:rPr lang="en-US" altLang="ko-KR" sz="1600" b="1" dirty="0"/>
              <a:t>2. </a:t>
            </a:r>
            <a:r>
              <a:rPr lang="ko-KR" altLang="en-US" sz="1600" b="1" dirty="0"/>
              <a:t>문제점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D95BDB-D048-490D-8A33-487DC6BC925B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C2C3F738-21AE-4CA6-ABD3-E89A4014745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E8710B0C-4B56-4828-A445-7EFAD02EE56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651FB14D-88D0-4E20-8AF6-919D1E63BE12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13F8088E-93ED-4B72-9015-C46467BA503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EB1EBAE-8844-48D9-A501-002F76DE8AE1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7C3FE47-9CF4-4377-B86A-B09DEC7F476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87D2794-B483-4893-9B78-42B199A7DE0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576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976379"/>
              </p:ext>
            </p:extLst>
          </p:nvPr>
        </p:nvGraphicFramePr>
        <p:xfrm>
          <a:off x="524435" y="820350"/>
          <a:ext cx="10924226" cy="564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6190">
                  <a:extLst>
                    <a:ext uri="{9D8B030D-6E8A-4147-A177-3AD203B41FA5}">
                      <a16:colId xmlns:a16="http://schemas.microsoft.com/office/drawing/2014/main" val="1860507414"/>
                    </a:ext>
                  </a:extLst>
                </a:gridCol>
                <a:gridCol w="4989018">
                  <a:extLst>
                    <a:ext uri="{9D8B030D-6E8A-4147-A177-3AD203B41FA5}">
                      <a16:colId xmlns:a16="http://schemas.microsoft.com/office/drawing/2014/main" val="1112934244"/>
                    </a:ext>
                  </a:extLst>
                </a:gridCol>
                <a:gridCol w="4989018">
                  <a:extLst>
                    <a:ext uri="{9D8B030D-6E8A-4147-A177-3AD203B41FA5}">
                      <a16:colId xmlns:a16="http://schemas.microsoft.com/office/drawing/2014/main" val="2709743984"/>
                    </a:ext>
                  </a:extLst>
                </a:gridCol>
              </a:tblGrid>
              <a:tr h="2763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(1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97432"/>
                  </a:ext>
                </a:extLst>
              </a:tr>
              <a:tr h="3628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구조</a:t>
                      </a:r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55606"/>
                  </a:ext>
                </a:extLst>
              </a:tr>
              <a:tr h="519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07908"/>
                  </a:ext>
                </a:extLst>
              </a:tr>
              <a:tr h="48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03641"/>
                  </a:ext>
                </a:extLst>
              </a:tr>
              <a:tr h="73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Trade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Off</a:t>
                      </a:r>
                    </a:p>
                    <a:p>
                      <a:pPr algn="ctr" latinLnBrk="1"/>
                      <a:endParaRPr lang="en-US" altLang="ko-KR" sz="10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247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설계안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1064C80-133C-411E-94A4-C7BF0C88A8B9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8" name="오각형 33">
              <a:extLst>
                <a:ext uri="{FF2B5EF4-FFF2-40B4-BE49-F238E27FC236}">
                  <a16:creationId xmlns:a16="http://schemas.microsoft.com/office/drawing/2014/main" id="{6845291F-1E6B-452F-A335-7DCDFF9130DC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2A38C673-6C16-47D3-8FA9-2C2E762AA405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491FE1BF-74BA-421E-867B-E039F2E86847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74CF41C6-E234-4A8D-A827-BFF2465FB36D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F72058F-405C-4BD2-B5FC-C6C0A910A2C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E541D121-DD11-401A-86F6-30F17EE922A4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3374E88-6777-4ACB-9848-7D9D282A246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558B43-DAE9-4697-917D-932F8CA89A17}"/>
              </a:ext>
            </a:extLst>
          </p:cNvPr>
          <p:cNvSpPr/>
          <p:nvPr/>
        </p:nvSpPr>
        <p:spPr>
          <a:xfrm>
            <a:off x="1453771" y="838827"/>
            <a:ext cx="5006024" cy="564622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55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설계결정 및 근거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CF92-BC50-45DA-BBE4-8CA768C8FB59}"/>
              </a:ext>
            </a:extLst>
          </p:cNvPr>
          <p:cNvSpPr txBox="1"/>
          <p:nvPr/>
        </p:nvSpPr>
        <p:spPr>
          <a:xfrm>
            <a:off x="596153" y="1021977"/>
            <a:ext cx="10985646" cy="439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최종 채택 구조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ㅇㅇㅇㅇㅇ</a:t>
            </a:r>
            <a:r>
              <a:rPr lang="ko-KR" altLang="en-US" sz="1400" dirty="0"/>
              <a:t> 채택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채택 근거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dirty="0"/>
              <a:t>보완 계획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8F8EEA-6DC9-40B0-B7D4-8A0DA68FB413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E6846BAE-2A78-4464-8C1D-D4C1B162DBB6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AE62D383-E1C2-4E54-98BA-B2D0BA62BD1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AC5F62C-168A-4F93-B451-FB24BD69B8DE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9E1FAF6-B7DB-4B68-81FE-7BB30F24E8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49248A-B5F0-4DC6-B99E-32B5C141FD0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B93AE81D-553E-40E1-8EFE-6FB53E05F08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585A663-A6A2-4349-AB84-10EE41F6668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89728A-ED59-497A-903B-F8A4C8EC1247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설계 결정 및 근거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8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최종 </a:t>
            </a:r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Architecture (1/2)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C1356EE-1076-47F8-8117-D9F9CD24DF68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F2C333AB-8302-4F1E-9EC6-A01CA6D96011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C328CCBF-3BFE-4A5D-ADA3-87B478663DB4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8ECD430F-891D-4147-8592-B100E3A28D5C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B11BF6A-417C-4266-B244-2732F029F274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B3834C9-D0D2-4FC3-9709-C714C323F015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8B63D2B-646C-43D8-AD70-FDB790A52ADF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23B019E-23C7-4C52-A751-81739D12C00C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A1C60F-A19B-4612-A368-60E58571D686}"/>
              </a:ext>
            </a:extLst>
          </p:cNvPr>
          <p:cNvSpPr/>
          <p:nvPr/>
        </p:nvSpPr>
        <p:spPr>
          <a:xfrm rot="20977912">
            <a:off x="3178764" y="2800260"/>
            <a:ext cx="3949951" cy="172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주요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아키텍쳐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 구조 명세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5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최종 </a:t>
            </a:r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Architecture (2/2)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0C812D7-D514-431B-98FF-659F779F921A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BEF4799B-C84A-4632-9119-FFD16004E795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06478DA8-BAC8-4CAB-BB00-FFD2C3ACE309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61592E6-6FD3-4067-B583-BE7E8B9DE4CD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97D6E17C-507B-43FB-AD7C-6B798427A3E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48B2554-4628-4371-A032-B14AD0CFDBD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D19DA8E5-C597-4D61-B3D2-496CA117FE81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C8F4275-34F4-48C6-AFD6-7998CF0CE31C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201AEA-373D-4D6A-8D8F-E7E45125EAF3}"/>
              </a:ext>
            </a:extLst>
          </p:cNvPr>
          <p:cNvSpPr/>
          <p:nvPr/>
        </p:nvSpPr>
        <p:spPr>
          <a:xfrm rot="20977912">
            <a:off x="3178764" y="2800260"/>
            <a:ext cx="3949951" cy="172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주요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아키텍쳐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 구조 명세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857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품질속성 검증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04871"/>
              </p:ext>
            </p:extLst>
          </p:nvPr>
        </p:nvGraphicFramePr>
        <p:xfrm>
          <a:off x="160699" y="952073"/>
          <a:ext cx="11865569" cy="5356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6558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922943">
                  <a:extLst>
                    <a:ext uri="{9D8B030D-6E8A-4147-A177-3AD203B41FA5}">
                      <a16:colId xmlns:a16="http://schemas.microsoft.com/office/drawing/2014/main" val="2665338150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4143463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  <a:gridCol w="3743237">
                  <a:extLst>
                    <a:ext uri="{9D8B030D-6E8A-4147-A177-3AD203B41FA5}">
                      <a16:colId xmlns:a16="http://schemas.microsoft.com/office/drawing/2014/main" val="2774603272"/>
                    </a:ext>
                  </a:extLst>
                </a:gridCol>
                <a:gridCol w="529593">
                  <a:extLst>
                    <a:ext uri="{9D8B030D-6E8A-4147-A177-3AD203B41FA5}">
                      <a16:colId xmlns:a16="http://schemas.microsoft.com/office/drawing/2014/main" val="532618218"/>
                    </a:ext>
                  </a:extLst>
                </a:gridCol>
              </a:tblGrid>
              <a:tr h="4286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1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시나리오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검증결과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달성</a:t>
                      </a:r>
                      <a:br>
                        <a:rPr lang="en-US" altLang="ko-KR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</a:b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QA1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en-US" altLang="ko-KR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QA2</a:t>
                      </a:r>
                      <a:endParaRPr lang="ko-KR" altLang="en-US" sz="10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en-US" altLang="ko-KR" sz="1000" b="0" baseline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QA3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3827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QA4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61626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9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9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81057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F3DC5F3D-A62C-4392-AEE9-F5E0E0D65BE9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6" name="오각형 33">
              <a:extLst>
                <a:ext uri="{FF2B5EF4-FFF2-40B4-BE49-F238E27FC236}">
                  <a16:creationId xmlns:a16="http://schemas.microsoft.com/office/drawing/2014/main" id="{2BF51B14-E90F-43AC-86DB-7A830743F103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7" name="갈매기형 수장 35">
              <a:extLst>
                <a:ext uri="{FF2B5EF4-FFF2-40B4-BE49-F238E27FC236}">
                  <a16:creationId xmlns:a16="http://schemas.microsoft.com/office/drawing/2014/main" id="{D86F6401-FC8D-4055-9777-BCB965F4E43D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8" name="갈매기형 수장 36">
              <a:extLst>
                <a:ext uri="{FF2B5EF4-FFF2-40B4-BE49-F238E27FC236}">
                  <a16:creationId xmlns:a16="http://schemas.microsoft.com/office/drawing/2014/main" id="{C9CE3F12-2EA9-4B0C-8AE8-45AC66F6D1A9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9" name="갈매기형 수장 37">
              <a:extLst>
                <a:ext uri="{FF2B5EF4-FFF2-40B4-BE49-F238E27FC236}">
                  <a16:creationId xmlns:a16="http://schemas.microsoft.com/office/drawing/2014/main" id="{D441322C-63A8-4A9F-A489-568D055B6AAA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F364EDE-7711-48FA-B4C0-EF3EC7A97A9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1" name="갈매기형 수장 38">
                <a:extLst>
                  <a:ext uri="{FF2B5EF4-FFF2-40B4-BE49-F238E27FC236}">
                    <a16:creationId xmlns:a16="http://schemas.microsoft.com/office/drawing/2014/main" id="{455BA281-969D-4D23-868A-2221CFD695F9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4A165AA-BE94-40F5-94F7-A358B9F4D66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432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구현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A5D580-C49C-4EED-BC0A-317AFE605A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5C2796AB-C023-4E4A-BE94-37EC2CE30AA9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F1BBBAD0-1337-4E1F-A92C-5E197F05735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6" name="갈매기형 수장 36">
              <a:extLst>
                <a:ext uri="{FF2B5EF4-FFF2-40B4-BE49-F238E27FC236}">
                  <a16:creationId xmlns:a16="http://schemas.microsoft.com/office/drawing/2014/main" id="{C574B9D6-AED7-4482-A630-68E2D5016F7F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7" name="갈매기형 수장 37">
              <a:extLst>
                <a:ext uri="{FF2B5EF4-FFF2-40B4-BE49-F238E27FC236}">
                  <a16:creationId xmlns:a16="http://schemas.microsoft.com/office/drawing/2014/main" id="{E30FA471-002E-41AF-9DB8-7756D9F30035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825C78-1AD6-4D4B-9A83-6FF2F3C572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9" name="갈매기형 수장 38">
                <a:extLst>
                  <a:ext uri="{FF2B5EF4-FFF2-40B4-BE49-F238E27FC236}">
                    <a16:creationId xmlns:a16="http://schemas.microsoft.com/office/drawing/2014/main" id="{917D2E7C-CC5A-4F1F-88BB-6D056B50BE5A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4450CD-837B-4141-813D-54EEBA9C5985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FAD063-F431-454E-98CA-89D21AD682CD}"/>
              </a:ext>
            </a:extLst>
          </p:cNvPr>
          <p:cNvSpPr/>
          <p:nvPr/>
        </p:nvSpPr>
        <p:spPr>
          <a:xfrm rot="20977912">
            <a:off x="2839964" y="804350"/>
            <a:ext cx="5383676" cy="18845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결과물 정리 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(PoC,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데모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영상 등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AI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모델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,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데이터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등 반드시 기입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27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4BE66A-59AB-49F5-A404-B8B18029471F}"/>
              </a:ext>
            </a:extLst>
          </p:cNvPr>
          <p:cNvSpPr txBox="1"/>
          <p:nvPr/>
        </p:nvSpPr>
        <p:spPr>
          <a:xfrm>
            <a:off x="596153" y="1021977"/>
            <a:ext cx="10985646" cy="2491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주요 성과</a:t>
            </a:r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향후 계획</a:t>
            </a:r>
            <a:endParaRPr lang="en-US" altLang="ko-KR" sz="16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ko-KR" sz="16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ko-KR" altLang="en-US" sz="1600" b="1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결론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A5D580-C49C-4EED-BC0A-317AFE605A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5C2796AB-C023-4E4A-BE94-37EC2CE30AA9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F1BBBAD0-1337-4E1F-A92C-5E197F05735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6" name="갈매기형 수장 36">
              <a:extLst>
                <a:ext uri="{FF2B5EF4-FFF2-40B4-BE49-F238E27FC236}">
                  <a16:creationId xmlns:a16="http://schemas.microsoft.com/office/drawing/2014/main" id="{C574B9D6-AED7-4482-A630-68E2D5016F7F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7" name="갈매기형 수장 37">
              <a:extLst>
                <a:ext uri="{FF2B5EF4-FFF2-40B4-BE49-F238E27FC236}">
                  <a16:creationId xmlns:a16="http://schemas.microsoft.com/office/drawing/2014/main" id="{E30FA471-002E-41AF-9DB8-7756D9F30035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825C78-1AD6-4D4B-9A83-6FF2F3C572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9" name="갈매기형 수장 38">
                <a:extLst>
                  <a:ext uri="{FF2B5EF4-FFF2-40B4-BE49-F238E27FC236}">
                    <a16:creationId xmlns:a16="http://schemas.microsoft.com/office/drawing/2014/main" id="{917D2E7C-CC5A-4F1F-88BB-6D056B50BE5A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4450CD-837B-4141-813D-54EEBA9C5985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6690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80049" y="1978466"/>
            <a:ext cx="3527683" cy="3092534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4000" b="1"/>
              <a:t>Appendix </a:t>
            </a:r>
            <a:endParaRPr lang="ko-KR" altLang="en-US" sz="4000" b="1" dirty="0"/>
          </a:p>
        </p:txBody>
      </p:sp>
      <p:sp>
        <p:nvSpPr>
          <p:cNvPr id="5" name="직사각형 4"/>
          <p:cNvSpPr/>
          <p:nvPr/>
        </p:nvSpPr>
        <p:spPr>
          <a:xfrm>
            <a:off x="175265" y="3153905"/>
            <a:ext cx="635287" cy="63528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080" y="3789192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686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AAD3E3-B09F-4693-A5CE-23D0E1FCB61C}"/>
              </a:ext>
            </a:extLst>
          </p:cNvPr>
          <p:cNvSpPr txBox="1"/>
          <p:nvPr/>
        </p:nvSpPr>
        <p:spPr>
          <a:xfrm>
            <a:off x="596153" y="1021977"/>
            <a:ext cx="10985646" cy="481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/>
              <a:t>측정 지표 및 평가 기준</a:t>
            </a: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/>
              <a:t>산출 근거</a:t>
            </a:r>
            <a:endParaRPr lang="en-US" altLang="ko-KR" sz="1400" b="1" dirty="0"/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/>
              <a:t>ㅇㅇㅇ</a:t>
            </a:r>
            <a:endParaRPr lang="en-US" altLang="ko-KR" sz="1200" dirty="0"/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/>
              <a:t>ㅇㅇㅇ</a:t>
            </a:r>
            <a:endParaRPr lang="ko-KR" altLang="en-US" sz="120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832D001-7212-42AC-93A7-2C44564EF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850423"/>
              </p:ext>
            </p:extLst>
          </p:nvPr>
        </p:nvGraphicFramePr>
        <p:xfrm>
          <a:off x="741313" y="1456112"/>
          <a:ext cx="10854534" cy="3002112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2578879">
                  <a:extLst>
                    <a:ext uri="{9D8B030D-6E8A-4147-A177-3AD203B41FA5}">
                      <a16:colId xmlns:a16="http://schemas.microsoft.com/office/drawing/2014/main" val="120489247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5719164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229624824"/>
                    </a:ext>
                  </a:extLst>
                </a:gridCol>
                <a:gridCol w="1131905">
                  <a:extLst>
                    <a:ext uri="{9D8B030D-6E8A-4147-A177-3AD203B41FA5}">
                      <a16:colId xmlns:a16="http://schemas.microsoft.com/office/drawing/2014/main" val="3176835231"/>
                    </a:ext>
                  </a:extLst>
                </a:gridCol>
              </a:tblGrid>
              <a:tr h="3335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>
                          <a:effectLst/>
                        </a:rPr>
                        <a:t>지표명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측정 방법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목표치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최소 허용치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166368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972521986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589614953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349957130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074551741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2100786639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212999597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98197549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232007926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Appendix.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ㅇㅇㅇ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63A6ED0-519D-423F-8502-B77DE3958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18389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B15E51-67F7-44DB-B1AD-710E2A696355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70B50750-215E-4BAC-8F0E-E2B63A824FDA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266E71C4-74C6-4607-BC7B-898F5303CC1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8ACBF34E-6D8F-48DB-97FC-1F845009550C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597B3D23-75F3-4660-B695-6DD8F7E893FE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D04485E-2551-4580-8BEA-F5AB713EB90F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B742CDDF-52B4-4261-877D-FAC9EB86505C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40B535D1-03CE-47BE-841F-345AA3BD6ACA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991D86-13A8-43D5-BDD5-B2F6B010EBCE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기타 상세 자료 및 근거 자유롭게 추가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81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9B115687997C42B168D6F2FF2650F3" ma:contentTypeVersion="0" ma:contentTypeDescription="Create a new document." ma:contentTypeScope="" ma:versionID="d8d6b28652ad80ae1bc69afa084f7eb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24fd2d4348e31d7b7bcc391e9da950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A686CC-916B-443C-8771-61E63CA6D850}"/>
</file>

<file path=customXml/itemProps2.xml><?xml version="1.0" encoding="utf-8"?>
<ds:datastoreItem xmlns:ds="http://schemas.openxmlformats.org/officeDocument/2006/customXml" ds:itemID="{534897F3-349A-4221-9DF9-4BB2E132C61A}"/>
</file>

<file path=customXml/itemProps3.xml><?xml version="1.0" encoding="utf-8"?>
<ds:datastoreItem xmlns:ds="http://schemas.openxmlformats.org/officeDocument/2006/customXml" ds:itemID="{FD8DDE49-5CA4-4E58-931D-5F56101EB2C6}"/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575</Words>
  <Application>Microsoft Office PowerPoint</Application>
  <PresentationFormat>와이드스크린</PresentationFormat>
  <Paragraphs>314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SamsungOneKoreanOTF 400C</vt:lpstr>
      <vt:lpstr>SamsungOneKoreanOTF 700C</vt:lpstr>
      <vt:lpstr>맑은 고딕</vt:lpstr>
      <vt:lpstr>Arial</vt:lpstr>
      <vt:lpstr>Office 테마</vt:lpstr>
      <vt:lpstr>ㅇㅇㅇㅇ 과제 제목  (ㅇㅇㅇㅇ)</vt:lpstr>
      <vt:lpstr>목차</vt:lpstr>
      <vt:lpstr>과제 소개</vt:lpstr>
      <vt:lpstr>과제 개요</vt:lpstr>
      <vt:lpstr>기능 요구사항 및 제약사항</vt:lpstr>
      <vt:lpstr>품질 속성</vt:lpstr>
      <vt:lpstr>DP1. 설계 문제 정의</vt:lpstr>
      <vt:lpstr>DP1. 설계안 결정</vt:lpstr>
      <vt:lpstr>DP1. 설계결정 및 근거</vt:lpstr>
      <vt:lpstr>DP2. 설계 문제 정의</vt:lpstr>
      <vt:lpstr>DP2. 설계안 결정</vt:lpstr>
      <vt:lpstr>DP2. 설계결정 및 근거</vt:lpstr>
      <vt:lpstr>최종 Architecture (1/2)</vt:lpstr>
      <vt:lpstr>최종 Architecture (2/2)</vt:lpstr>
      <vt:lpstr>품질속성 검증</vt:lpstr>
      <vt:lpstr>구현</vt:lpstr>
      <vt:lpstr>결론</vt:lpstr>
      <vt:lpstr>Appendix </vt:lpstr>
      <vt:lpstr>Appendix. ㅇㅇㅇ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(AI 기능/품질 요구사항 포함) 과제 제목</dc:title>
  <dc:creator>김우성/S/W개발그룹(생활가전)/삼성전자</dc:creator>
  <cp:lastModifiedBy>고경호</cp:lastModifiedBy>
  <cp:revision>109</cp:revision>
  <dcterms:created xsi:type="dcterms:W3CDTF">2026-01-22T05:02:52Z</dcterms:created>
  <dcterms:modified xsi:type="dcterms:W3CDTF">2026-04-08T01:30:56Z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F831F00AC7AF37BD1676E2D26056CD27984745530FA58ACE4A4EDA8C7D41A241CF21D632E59BB474E0EC0062611A53E34C8CD5B019C188CCF7DF0DCB1AF0C064</vt:lpwstr>
  </property>
  <property fmtid="{D5CDD505-2E9C-101B-9397-08002B2CF9AE}" pid="4" name="ContentTypeId">
    <vt:lpwstr>0x010100DA9B115687997C42B168D6F2FF2650F3</vt:lpwstr>
  </property>
</Properties>
</file>